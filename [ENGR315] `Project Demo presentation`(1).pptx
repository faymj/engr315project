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 id="21474837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Quantico"/>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197F19-CE84-400B-AF90-2E6C48A5B591}">
  <a:tblStyle styleId="{F0197F19-CE84-400B-AF90-2E6C48A5B5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Quantico-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Quantico-italic.fntdata"/><Relationship Id="rId12" Type="http://schemas.openxmlformats.org/officeDocument/2006/relationships/slide" Target="slides/slide5.xml"/><Relationship Id="rId34" Type="http://schemas.openxmlformats.org/officeDocument/2006/relationships/font" Target="fonts/Quantico-bold.fntdata"/><Relationship Id="rId15" Type="http://schemas.openxmlformats.org/officeDocument/2006/relationships/slide" Target="slides/slide8.xml"/><Relationship Id="rId37" Type="http://schemas.openxmlformats.org/officeDocument/2006/relationships/font" Target="fonts/Lato-regular.fntdata"/><Relationship Id="rId14" Type="http://schemas.openxmlformats.org/officeDocument/2006/relationships/slide" Target="slides/slide7.xml"/><Relationship Id="rId36" Type="http://schemas.openxmlformats.org/officeDocument/2006/relationships/font" Target="fonts/Quantico-boldItalic.fntdata"/><Relationship Id="rId17" Type="http://schemas.openxmlformats.org/officeDocument/2006/relationships/slide" Target="slides/slide10.xml"/><Relationship Id="rId39" Type="http://schemas.openxmlformats.org/officeDocument/2006/relationships/font" Target="fonts/Lato-italic.fntdata"/><Relationship Id="rId16" Type="http://schemas.openxmlformats.org/officeDocument/2006/relationships/slide" Target="slides/slide9.xml"/><Relationship Id="rId38" Type="http://schemas.openxmlformats.org/officeDocument/2006/relationships/font" Target="fonts/Lat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dc01aa6ef1_1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dc01aa6ef1_1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c0da4b12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dc0da4b12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c0da4b122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dc0da4b122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dc0da4b12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dc0da4b12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c0da4b12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dc0da4b12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dc0da4b122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dc0da4b122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c0da4b12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dc0da4b12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c0da4b12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dc0da4b12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c0da4b122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c0da4b122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dc0da4b122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dc0da4b122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c01aa6ef1_1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dc01aa6ef1_1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d86790e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d86790e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d86790e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dd86790e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c01aa6ef1_1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c01aa6ef1_1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c01aa6ef1_1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c01aa6ef1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d86790ed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dd86790ed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d86790ed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dd86790ed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dc0da4b122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dc0da4b122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dd86790ed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dd86790ed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c01aa6ef1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dc01aa6ef1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dc0da4b122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dc0da4b122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dc0da4b122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dc0da4b122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dd86790ed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dd86790ed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dd86790ed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dd86790ed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dd86790ed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dd86790ed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53" name="Shape 53"/>
        <p:cNvGrpSpPr/>
        <p:nvPr/>
      </p:nvGrpSpPr>
      <p:grpSpPr>
        <a:xfrm>
          <a:off x="0" y="0"/>
          <a:ext cx="0" cy="0"/>
          <a:chOff x="0" y="0"/>
          <a:chExt cx="0" cy="0"/>
        </a:xfrm>
      </p:grpSpPr>
      <p:sp>
        <p:nvSpPr>
          <p:cNvPr id="54" name="Google Shape;54;p14"/>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5" name="Google Shape;55;p14"/>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6" name="Google Shape;56;p14"/>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7" name="Google Shape;57;p14"/>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58" name="Google Shape;58;p14"/>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59" name="Shape 59"/>
        <p:cNvGrpSpPr/>
        <p:nvPr/>
      </p:nvGrpSpPr>
      <p:grpSpPr>
        <a:xfrm>
          <a:off x="0" y="0"/>
          <a:ext cx="0" cy="0"/>
          <a:chOff x="0" y="0"/>
          <a:chExt cx="0" cy="0"/>
        </a:xfrm>
      </p:grpSpPr>
      <p:sp>
        <p:nvSpPr>
          <p:cNvPr id="60" name="Google Shape;60;p15"/>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61" name="Google Shape;61;p15"/>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2" name="Google Shape;62;p15"/>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3" name="Google Shape;63;p15"/>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4" name="Google Shape;64;p15"/>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5" name="Google Shape;65;p15"/>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6" name="Google Shape;66;p15"/>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67" name="Shape 67"/>
        <p:cNvGrpSpPr/>
        <p:nvPr/>
      </p:nvGrpSpPr>
      <p:grpSpPr>
        <a:xfrm>
          <a:off x="0" y="0"/>
          <a:ext cx="0" cy="0"/>
          <a:chOff x="0" y="0"/>
          <a:chExt cx="0" cy="0"/>
        </a:xfrm>
      </p:grpSpPr>
      <p:sp>
        <p:nvSpPr>
          <p:cNvPr id="68" name="Google Shape;68;p16"/>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16"/>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16"/>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1" name="Google Shape;71;p16"/>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2" name="Google Shape;72;p16"/>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73" name="Google Shape;73;p16"/>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4" name="Google Shape;74;p16"/>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5" name="Google Shape;75;p16"/>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6" name="Google Shape;76;p16"/>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7" name="Google Shape;77;p16"/>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8" name="Google Shape;78;p16"/>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9" name="Google Shape;79;p16"/>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0" name="Google Shape;80;p16"/>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1" name="Google Shape;81;p16"/>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82" name="Shape 82"/>
        <p:cNvGrpSpPr/>
        <p:nvPr/>
      </p:nvGrpSpPr>
      <p:grpSpPr>
        <a:xfrm>
          <a:off x="0" y="0"/>
          <a:ext cx="0" cy="0"/>
          <a:chOff x="0" y="0"/>
          <a:chExt cx="0" cy="0"/>
        </a:xfrm>
      </p:grpSpPr>
      <p:sp>
        <p:nvSpPr>
          <p:cNvPr id="83" name="Google Shape;83;p17"/>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4" name="Google Shape;84;p17"/>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5" name="Google Shape;85;p17"/>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6" name="Google Shape;86;p17"/>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87" name="Google Shape;87;p17"/>
          <p:cNvSpPr/>
          <p:nvPr>
            <p:ph idx="2" type="pic"/>
          </p:nvPr>
        </p:nvSpPr>
        <p:spPr>
          <a:xfrm>
            <a:off x="1801500" y="1497750"/>
            <a:ext cx="1801500" cy="1822500"/>
          </a:xfrm>
          <a:prstGeom prst="snip1Rect">
            <a:avLst>
              <a:gd fmla="val 17337" name="adj"/>
            </a:avLst>
          </a:prstGeom>
          <a:noFill/>
          <a:ln>
            <a:noFill/>
          </a:ln>
        </p:spPr>
      </p:sp>
      <p:sp>
        <p:nvSpPr>
          <p:cNvPr id="88" name="Google Shape;88;p17"/>
          <p:cNvSpPr/>
          <p:nvPr>
            <p:ph idx="3" type="pic"/>
          </p:nvPr>
        </p:nvSpPr>
        <p:spPr>
          <a:xfrm>
            <a:off x="1801500" y="3320250"/>
            <a:ext cx="1801500" cy="1822500"/>
          </a:xfrm>
          <a:prstGeom prst="snip1Rect">
            <a:avLst>
              <a:gd fmla="val 17337" name="adj"/>
            </a:avLst>
          </a:prstGeom>
          <a:noFill/>
          <a:ln>
            <a:noFill/>
          </a:ln>
        </p:spPr>
      </p:sp>
      <p:sp>
        <p:nvSpPr>
          <p:cNvPr id="89" name="Google Shape;89;p17"/>
          <p:cNvSpPr/>
          <p:nvPr>
            <p:ph idx="4" type="pic"/>
          </p:nvPr>
        </p:nvSpPr>
        <p:spPr>
          <a:xfrm>
            <a:off x="0" y="1497750"/>
            <a:ext cx="1801500" cy="1822500"/>
          </a:xfrm>
          <a:prstGeom prst="snip1Rect">
            <a:avLst>
              <a:gd fmla="val 17337" name="adj"/>
            </a:avLst>
          </a:prstGeom>
          <a:noFill/>
          <a:ln>
            <a:noFill/>
          </a:ln>
        </p:spPr>
      </p:sp>
      <p:sp>
        <p:nvSpPr>
          <p:cNvPr id="90" name="Google Shape;90;p17"/>
          <p:cNvSpPr/>
          <p:nvPr>
            <p:ph idx="5" type="pic"/>
          </p:nvPr>
        </p:nvSpPr>
        <p:spPr>
          <a:xfrm>
            <a:off x="0" y="3320250"/>
            <a:ext cx="1801500" cy="1822500"/>
          </a:xfrm>
          <a:prstGeom prst="snip1Rect">
            <a:avLst>
              <a:gd fmla="val 17337" name="adj"/>
            </a:avLst>
          </a:prstGeom>
          <a:noFill/>
          <a:ln>
            <a:noFill/>
          </a:ln>
        </p:spPr>
      </p:sp>
      <p:sp>
        <p:nvSpPr>
          <p:cNvPr id="91" name="Google Shape;91;p17"/>
          <p:cNvSpPr/>
          <p:nvPr>
            <p:ph idx="6" type="pic"/>
          </p:nvPr>
        </p:nvSpPr>
        <p:spPr>
          <a:xfrm>
            <a:off x="3603000" y="1497750"/>
            <a:ext cx="1801500" cy="1822500"/>
          </a:xfrm>
          <a:prstGeom prst="snip1Rect">
            <a:avLst>
              <a:gd fmla="val 17337" name="adj"/>
            </a:avLst>
          </a:prstGeom>
          <a:noFill/>
          <a:ln>
            <a:noFill/>
          </a:ln>
        </p:spPr>
      </p:sp>
      <p:sp>
        <p:nvSpPr>
          <p:cNvPr id="92" name="Google Shape;92;p17"/>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93" name="Shape 93"/>
        <p:cNvGrpSpPr/>
        <p:nvPr/>
      </p:nvGrpSpPr>
      <p:grpSpPr>
        <a:xfrm>
          <a:off x="0" y="0"/>
          <a:ext cx="0" cy="0"/>
          <a:chOff x="0" y="0"/>
          <a:chExt cx="0" cy="0"/>
        </a:xfrm>
      </p:grpSpPr>
      <p:sp>
        <p:nvSpPr>
          <p:cNvPr id="94" name="Google Shape;94;p18"/>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5" name="Google Shape;95;p18"/>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6" name="Google Shape;96;p18"/>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7" name="Google Shape;97;p18"/>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98" name="Google Shape;98;p18"/>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99" name="Google Shape;99;p18"/>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0" name="Google Shape;100;p18"/>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101" name="Google Shape;101;p18"/>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2" name="Google Shape;102;p18"/>
          <p:cNvSpPr/>
          <p:nvPr>
            <p:ph idx="5" type="pic"/>
          </p:nvPr>
        </p:nvSpPr>
        <p:spPr>
          <a:xfrm>
            <a:off x="0" y="1502400"/>
            <a:ext cx="5404500" cy="3639600"/>
          </a:xfrm>
          <a:prstGeom prst="snip1Rect">
            <a:avLst>
              <a:gd fmla="val 16026" name="adj"/>
            </a:avLst>
          </a:prstGeom>
          <a:noFill/>
          <a:ln>
            <a:noFill/>
          </a:ln>
        </p:spPr>
      </p:sp>
      <p:sp>
        <p:nvSpPr>
          <p:cNvPr id="103" name="Google Shape;103;p18"/>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4" name="Google Shape;104;p18"/>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105" name="Shape 105"/>
        <p:cNvGrpSpPr/>
        <p:nvPr/>
      </p:nvGrpSpPr>
      <p:grpSpPr>
        <a:xfrm>
          <a:off x="0" y="0"/>
          <a:ext cx="0" cy="0"/>
          <a:chOff x="0" y="0"/>
          <a:chExt cx="0" cy="0"/>
        </a:xfrm>
      </p:grpSpPr>
      <p:sp>
        <p:nvSpPr>
          <p:cNvPr id="106" name="Google Shape;106;p19"/>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 name="Google Shape;107;p19"/>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08" name="Google Shape;108;p19"/>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09" name="Google Shape;109;p19"/>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110" name="Shape 110"/>
        <p:cNvGrpSpPr/>
        <p:nvPr/>
      </p:nvGrpSpPr>
      <p:grpSpPr>
        <a:xfrm>
          <a:off x="0" y="0"/>
          <a:ext cx="0" cy="0"/>
          <a:chOff x="0" y="0"/>
          <a:chExt cx="0" cy="0"/>
        </a:xfrm>
      </p:grpSpPr>
      <p:sp>
        <p:nvSpPr>
          <p:cNvPr id="111" name="Google Shape;111;p20"/>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2" name="Google Shape;112;p20"/>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20"/>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4" name="Google Shape;114;p20"/>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20"/>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116" name="Google Shape;116;p20"/>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117" name="Google Shape;117;p20"/>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118" name="Shape 118"/>
        <p:cNvGrpSpPr/>
        <p:nvPr/>
      </p:nvGrpSpPr>
      <p:grpSpPr>
        <a:xfrm>
          <a:off x="0" y="0"/>
          <a:ext cx="0" cy="0"/>
          <a:chOff x="0" y="0"/>
          <a:chExt cx="0" cy="0"/>
        </a:xfrm>
      </p:grpSpPr>
      <p:sp>
        <p:nvSpPr>
          <p:cNvPr id="119" name="Google Shape;119;p21"/>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0" name="Google Shape;120;p21"/>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1" name="Google Shape;121;p21"/>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2" name="Google Shape;122;p21"/>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123" name="Google Shape;123;p21"/>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124" name="Google Shape;124;p21"/>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125" name="Google Shape;125;p21"/>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126" name="Shape 126"/>
        <p:cNvGrpSpPr/>
        <p:nvPr/>
      </p:nvGrpSpPr>
      <p:grpSpPr>
        <a:xfrm>
          <a:off x="0" y="0"/>
          <a:ext cx="0" cy="0"/>
          <a:chOff x="0" y="0"/>
          <a:chExt cx="0" cy="0"/>
        </a:xfrm>
      </p:grpSpPr>
      <p:sp>
        <p:nvSpPr>
          <p:cNvPr id="127" name="Google Shape;127;p22"/>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8" name="Google Shape;128;p22"/>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9" name="Google Shape;129;p22"/>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30" name="Google Shape;130;p22"/>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31" name="Google Shape;131;p22"/>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32" name="Google Shape;132;p22"/>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133" name="Google Shape;133;p22"/>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134" name="Shape 134"/>
        <p:cNvGrpSpPr/>
        <p:nvPr/>
      </p:nvGrpSpPr>
      <p:grpSpPr>
        <a:xfrm>
          <a:off x="0" y="0"/>
          <a:ext cx="0" cy="0"/>
          <a:chOff x="0" y="0"/>
          <a:chExt cx="0" cy="0"/>
        </a:xfrm>
      </p:grpSpPr>
      <p:sp>
        <p:nvSpPr>
          <p:cNvPr id="135" name="Google Shape;135;p23"/>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6" name="Google Shape;136;p23"/>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7" name="Google Shape;137;p23"/>
          <p:cNvSpPr/>
          <p:nvPr>
            <p:ph idx="2" type="pic"/>
          </p:nvPr>
        </p:nvSpPr>
        <p:spPr>
          <a:xfrm flipH="1">
            <a:off x="4930693" y="619550"/>
            <a:ext cx="2100300" cy="1513500"/>
          </a:xfrm>
          <a:prstGeom prst="snip1Rect">
            <a:avLst>
              <a:gd fmla="val 0" name="adj"/>
            </a:avLst>
          </a:prstGeom>
          <a:noFill/>
          <a:ln>
            <a:noFill/>
          </a:ln>
        </p:spPr>
      </p:sp>
      <p:sp>
        <p:nvSpPr>
          <p:cNvPr id="138" name="Google Shape;138;p23"/>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139" name="Google Shape;139;p23"/>
          <p:cNvSpPr/>
          <p:nvPr>
            <p:ph idx="3" type="pic"/>
          </p:nvPr>
        </p:nvSpPr>
        <p:spPr>
          <a:xfrm flipH="1">
            <a:off x="696043" y="2125400"/>
            <a:ext cx="2129100" cy="1513500"/>
          </a:xfrm>
          <a:prstGeom prst="snip1Rect">
            <a:avLst>
              <a:gd fmla="val 0" name="adj"/>
            </a:avLst>
          </a:prstGeom>
          <a:noFill/>
          <a:ln>
            <a:noFill/>
          </a:ln>
        </p:spPr>
      </p:sp>
      <p:sp>
        <p:nvSpPr>
          <p:cNvPr id="140" name="Google Shape;140;p23"/>
          <p:cNvSpPr/>
          <p:nvPr>
            <p:ph idx="4" type="pic"/>
          </p:nvPr>
        </p:nvSpPr>
        <p:spPr>
          <a:xfrm flipH="1">
            <a:off x="4930693" y="3635300"/>
            <a:ext cx="2100300" cy="1513500"/>
          </a:xfrm>
          <a:prstGeom prst="snip1Rect">
            <a:avLst>
              <a:gd fmla="val 0" name="adj"/>
            </a:avLst>
          </a:prstGeom>
          <a:noFill/>
          <a:ln>
            <a:noFill/>
          </a:ln>
        </p:spPr>
      </p:sp>
      <p:sp>
        <p:nvSpPr>
          <p:cNvPr id="141" name="Google Shape;141;p23"/>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2" name="Google Shape;142;p23"/>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3" name="Google Shape;143;p23"/>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4" name="Google Shape;144;p23"/>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5" name="Google Shape;145;p23"/>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6" name="Google Shape;146;p23"/>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mt="10000"/>
          </a:blip>
          <a:srcRect b="0" l="789" r="12433" t="0"/>
          <a:stretch/>
        </p:blipFill>
        <p:spPr>
          <a:xfrm>
            <a:off x="0" y="-125"/>
            <a:ext cx="6696900" cy="5143500"/>
          </a:xfrm>
          <a:prstGeom prst="snip1Rect">
            <a:avLst>
              <a:gd fmla="val 16667" name="adj"/>
            </a:avLst>
          </a:prstGeom>
          <a:noFill/>
          <a:ln>
            <a:noFill/>
          </a:ln>
        </p:spPr>
      </p:pic>
      <p:sp>
        <p:nvSpPr>
          <p:cNvPr id="149" name="Google Shape;149;p24"/>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0" name="Google Shape;150;p24"/>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1" name="Google Shape;151;p24"/>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2" name="Google Shape;152;p24"/>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3" name="Google Shape;153;p24"/>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4" name="Google Shape;154;p24"/>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5" name="Google Shape;155;p24"/>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56" name="Shape 156"/>
        <p:cNvGrpSpPr/>
        <p:nvPr/>
      </p:nvGrpSpPr>
      <p:grpSpPr>
        <a:xfrm>
          <a:off x="0" y="0"/>
          <a:ext cx="0" cy="0"/>
          <a:chOff x="0" y="0"/>
          <a:chExt cx="0" cy="0"/>
        </a:xfrm>
      </p:grpSpPr>
      <p:sp>
        <p:nvSpPr>
          <p:cNvPr id="157" name="Google Shape;157;p25"/>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58" name="Google Shape;158;p25"/>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59" name="Google Shape;159;p25"/>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0" name="Google Shape;160;p25"/>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1" name="Google Shape;161;p25"/>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62" name="Google Shape;162;p25"/>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3" name="Google Shape;163;p25"/>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64" name="Google Shape;164;p25"/>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65" name="Google Shape;165;p25"/>
          <p:cNvSpPr/>
          <p:nvPr>
            <p:ph idx="5" type="pic"/>
          </p:nvPr>
        </p:nvSpPr>
        <p:spPr>
          <a:xfrm>
            <a:off x="75" y="2673275"/>
            <a:ext cx="3400800" cy="2471400"/>
          </a:xfrm>
          <a:prstGeom prst="snip1Rect">
            <a:avLst>
              <a:gd fmla="val 21231" name="adj"/>
            </a:avLst>
          </a:prstGeom>
          <a:noFill/>
          <a:ln>
            <a:noFill/>
          </a:ln>
        </p:spPr>
      </p:sp>
      <p:sp>
        <p:nvSpPr>
          <p:cNvPr id="166" name="Google Shape;166;p25"/>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67" name="Google Shape;167;p25"/>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8" name="Google Shape;168;p25"/>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69" name="Google Shape;169;p25"/>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70" name="Shape 170"/>
        <p:cNvGrpSpPr/>
        <p:nvPr/>
      </p:nvGrpSpPr>
      <p:grpSpPr>
        <a:xfrm>
          <a:off x="0" y="0"/>
          <a:ext cx="0" cy="0"/>
          <a:chOff x="0" y="0"/>
          <a:chExt cx="0" cy="0"/>
        </a:xfrm>
      </p:grpSpPr>
      <p:sp>
        <p:nvSpPr>
          <p:cNvPr id="171" name="Google Shape;171;p26"/>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72" name="Google Shape;172;p26"/>
          <p:cNvSpPr/>
          <p:nvPr>
            <p:ph idx="2" type="pic"/>
          </p:nvPr>
        </p:nvSpPr>
        <p:spPr>
          <a:xfrm>
            <a:off x="75" y="2673275"/>
            <a:ext cx="3014400" cy="2471400"/>
          </a:xfrm>
          <a:prstGeom prst="snip1Rect">
            <a:avLst>
              <a:gd fmla="val 0" name="adj"/>
            </a:avLst>
          </a:prstGeom>
          <a:noFill/>
          <a:ln>
            <a:noFill/>
          </a:ln>
        </p:spPr>
      </p:sp>
      <p:sp>
        <p:nvSpPr>
          <p:cNvPr id="173" name="Google Shape;173;p26"/>
          <p:cNvSpPr/>
          <p:nvPr>
            <p:ph idx="3" type="pic"/>
          </p:nvPr>
        </p:nvSpPr>
        <p:spPr>
          <a:xfrm>
            <a:off x="5341625" y="-3800"/>
            <a:ext cx="3802500" cy="1899300"/>
          </a:xfrm>
          <a:prstGeom prst="snip1Rect">
            <a:avLst>
              <a:gd fmla="val 17337" name="adj"/>
            </a:avLst>
          </a:prstGeom>
          <a:noFill/>
          <a:ln>
            <a:noFill/>
          </a:ln>
        </p:spPr>
      </p:sp>
      <p:sp>
        <p:nvSpPr>
          <p:cNvPr id="174" name="Google Shape;174;p26"/>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26"/>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26"/>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77" name="Google Shape;177;p26"/>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8" name="Google Shape;178;p26"/>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9" name="Google Shape;179;p26"/>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80" name="Shape 180"/>
        <p:cNvGrpSpPr/>
        <p:nvPr/>
      </p:nvGrpSpPr>
      <p:grpSpPr>
        <a:xfrm>
          <a:off x="0" y="0"/>
          <a:ext cx="0" cy="0"/>
          <a:chOff x="0" y="0"/>
          <a:chExt cx="0" cy="0"/>
        </a:xfrm>
      </p:grpSpPr>
      <p:sp>
        <p:nvSpPr>
          <p:cNvPr id="181" name="Google Shape;181;p27"/>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2" name="Google Shape;182;p27"/>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3" name="Google Shape;183;p27"/>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4" name="Google Shape;184;p27"/>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5" name="Google Shape;185;p27"/>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6" name="Google Shape;186;p27"/>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7" name="Google Shape;187;p27"/>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8" name="Google Shape;188;p27"/>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89" name="Google Shape;189;p27"/>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0" name="Google Shape;190;p27"/>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1" name="Google Shape;191;p27"/>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2" name="Google Shape;192;p27"/>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3" name="Google Shape;193;p27"/>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4" name="Google Shape;194;p27"/>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5" name="Google Shape;195;p27"/>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6" name="Google Shape;196;p27"/>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7" name="Google Shape;197;p27"/>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8" name="Google Shape;198;p27"/>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9" name="Google Shape;199;p27"/>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200" name="Google Shape;200;p27"/>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201" name="Shape 201"/>
        <p:cNvGrpSpPr/>
        <p:nvPr/>
      </p:nvGrpSpPr>
      <p:grpSpPr>
        <a:xfrm>
          <a:off x="0" y="0"/>
          <a:ext cx="0" cy="0"/>
          <a:chOff x="0" y="0"/>
          <a:chExt cx="0" cy="0"/>
        </a:xfrm>
      </p:grpSpPr>
      <p:sp>
        <p:nvSpPr>
          <p:cNvPr id="202" name="Google Shape;202;p28"/>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3" name="Google Shape;203;p28"/>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4" name="Google Shape;204;p28"/>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5" name="Google Shape;205;p28"/>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6" name="Google Shape;206;p28"/>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7" name="Google Shape;207;p28"/>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8" name="Google Shape;208;p28"/>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9" name="Google Shape;209;p28"/>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0" name="Google Shape;210;p28"/>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11" name="Google Shape;211;p28"/>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2" name="Google Shape;212;p28"/>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213" name="Shape 213"/>
        <p:cNvGrpSpPr/>
        <p:nvPr/>
      </p:nvGrpSpPr>
      <p:grpSpPr>
        <a:xfrm>
          <a:off x="0" y="0"/>
          <a:ext cx="0" cy="0"/>
          <a:chOff x="0" y="0"/>
          <a:chExt cx="0" cy="0"/>
        </a:xfrm>
      </p:grpSpPr>
      <p:sp>
        <p:nvSpPr>
          <p:cNvPr id="214" name="Google Shape;214;p29"/>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5" name="Google Shape;215;p29"/>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6" name="Google Shape;216;p29"/>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7" name="Google Shape;217;p29"/>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8" name="Google Shape;218;p29"/>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219" name="Google Shape;219;p29"/>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0" name="Google Shape;220;p29"/>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1" name="Google Shape;221;p29"/>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222" name="Google Shape;222;p29"/>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223" name="Google Shape;223;p29"/>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4" name="Google Shape;224;p29"/>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5" name="Google Shape;225;p29"/>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6" name="Google Shape;226;p29"/>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7" name="Google Shape;227;p29"/>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8" name="Google Shape;228;p29"/>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9" name="Google Shape;229;p29"/>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0" name="Google Shape;230;p29"/>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1" name="Google Shape;231;p29"/>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2" name="Google Shape;232;p29"/>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3" name="Google Shape;233;p29"/>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234" name="Shape 234"/>
        <p:cNvGrpSpPr/>
        <p:nvPr/>
      </p:nvGrpSpPr>
      <p:grpSpPr>
        <a:xfrm>
          <a:off x="0" y="0"/>
          <a:ext cx="0" cy="0"/>
          <a:chOff x="0" y="0"/>
          <a:chExt cx="0" cy="0"/>
        </a:xfrm>
      </p:grpSpPr>
      <p:sp>
        <p:nvSpPr>
          <p:cNvPr id="235" name="Google Shape;235;p30"/>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6" name="Google Shape;236;p30"/>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7" name="Google Shape;237;p30"/>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8" name="Google Shape;238;p30"/>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9" name="Google Shape;239;p30"/>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40" name="Google Shape;240;p30"/>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1" name="Google Shape;241;p30"/>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2" name="Google Shape;242;p30"/>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3" name="Google Shape;243;p30"/>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4" name="Google Shape;244;p30"/>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5" name="Google Shape;245;p30"/>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6" name="Google Shape;246;p30"/>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7" name="Google Shape;247;p30"/>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8" name="Google Shape;248;p30"/>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9" name="Google Shape;249;p30"/>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50" name="Google Shape;250;p30"/>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1" name="Google Shape;251;p30"/>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2" name="Google Shape;252;p30"/>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3" name="Google Shape;253;p30"/>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4" name="Google Shape;254;p30"/>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55" name="Google Shape;255;p30"/>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6" name="Google Shape;256;p30"/>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7" name="Google Shape;257;p30"/>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8" name="Google Shape;258;p30"/>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9" name="Google Shape;259;p30"/>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60" name="Shape 260"/>
        <p:cNvGrpSpPr/>
        <p:nvPr/>
      </p:nvGrpSpPr>
      <p:grpSpPr>
        <a:xfrm>
          <a:off x="0" y="0"/>
          <a:ext cx="0" cy="0"/>
          <a:chOff x="0" y="0"/>
          <a:chExt cx="0" cy="0"/>
        </a:xfrm>
      </p:grpSpPr>
      <p:sp>
        <p:nvSpPr>
          <p:cNvPr id="261" name="Google Shape;261;p31"/>
          <p:cNvSpPr/>
          <p:nvPr>
            <p:ph idx="2" type="pic"/>
          </p:nvPr>
        </p:nvSpPr>
        <p:spPr>
          <a:xfrm>
            <a:off x="-1600" y="1969350"/>
            <a:ext cx="9144000" cy="3174600"/>
          </a:xfrm>
          <a:prstGeom prst="snip1Rect">
            <a:avLst>
              <a:gd fmla="val 19548" name="adj"/>
            </a:avLst>
          </a:prstGeom>
          <a:noFill/>
          <a:ln>
            <a:noFill/>
          </a:ln>
        </p:spPr>
      </p:sp>
      <p:sp>
        <p:nvSpPr>
          <p:cNvPr id="262" name="Google Shape;262;p31"/>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3" name="Google Shape;263;p31"/>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4" name="Google Shape;264;p31"/>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5" name="Google Shape;265;p31"/>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6" name="Google Shape;266;p31"/>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7" name="Google Shape;267;p31"/>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8" name="Google Shape;268;p31"/>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9" name="Google Shape;269;p31"/>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70" name="Google Shape;270;p31"/>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1" name="Google Shape;271;p31"/>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2" name="Google Shape;272;p31"/>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3" name="Google Shape;273;p31"/>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4" name="Google Shape;274;p31"/>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75" name="Google Shape;275;p31"/>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76" name="Shape 276"/>
        <p:cNvGrpSpPr/>
        <p:nvPr/>
      </p:nvGrpSpPr>
      <p:grpSpPr>
        <a:xfrm>
          <a:off x="0" y="0"/>
          <a:ext cx="0" cy="0"/>
          <a:chOff x="0" y="0"/>
          <a:chExt cx="0" cy="0"/>
        </a:xfrm>
      </p:grpSpPr>
      <p:sp>
        <p:nvSpPr>
          <p:cNvPr id="277" name="Google Shape;277;p3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78" name="Google Shape;278;p3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9" name="Google Shape;279;p3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80" name="Google Shape;280;p32"/>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1" name="Google Shape;281;p32"/>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2" name="Google Shape;282;p32"/>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3" name="Google Shape;283;p32"/>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4" name="Google Shape;284;p32"/>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5" name="Google Shape;285;p32"/>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32"/>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7" name="Google Shape;287;p32"/>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32"/>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9" name="Google Shape;289;p32"/>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90" name="Shape 290"/>
        <p:cNvGrpSpPr/>
        <p:nvPr/>
      </p:nvGrpSpPr>
      <p:grpSpPr>
        <a:xfrm>
          <a:off x="0" y="0"/>
          <a:ext cx="0" cy="0"/>
          <a:chOff x="0" y="0"/>
          <a:chExt cx="0" cy="0"/>
        </a:xfrm>
      </p:grpSpPr>
      <p:sp>
        <p:nvSpPr>
          <p:cNvPr id="291" name="Google Shape;291;p33"/>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92" name="Google Shape;292;p33"/>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93" name="Google Shape;293;p33"/>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94" name="Google Shape;294;p33"/>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5" name="Google Shape;295;p33"/>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6" name="Google Shape;296;p33"/>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7" name="Google Shape;297;p33"/>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8" name="Google Shape;298;p33"/>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9" name="Google Shape;299;p33"/>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300" name="Google Shape;300;p33"/>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301" name="Shape 301"/>
        <p:cNvGrpSpPr/>
        <p:nvPr/>
      </p:nvGrpSpPr>
      <p:grpSpPr>
        <a:xfrm>
          <a:off x="0" y="0"/>
          <a:ext cx="0" cy="0"/>
          <a:chOff x="0" y="0"/>
          <a:chExt cx="0" cy="0"/>
        </a:xfrm>
      </p:grpSpPr>
      <p:sp>
        <p:nvSpPr>
          <p:cNvPr id="302" name="Google Shape;302;p34"/>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303" name="Google Shape;303;p34"/>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4" name="Google Shape;304;p34"/>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5" name="Google Shape;305;p34"/>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6" name="Google Shape;306;p34"/>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7" name="Google Shape;307;p34"/>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8" name="Google Shape;308;p34"/>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9" name="Google Shape;309;p34"/>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0" name="Google Shape;310;p34"/>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11" name="Google Shape;311;p34"/>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2" name="Google Shape;312;p34"/>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313" name="Shape 313"/>
        <p:cNvGrpSpPr/>
        <p:nvPr/>
      </p:nvGrpSpPr>
      <p:grpSpPr>
        <a:xfrm>
          <a:off x="0" y="0"/>
          <a:ext cx="0" cy="0"/>
          <a:chOff x="0" y="0"/>
          <a:chExt cx="0" cy="0"/>
        </a:xfrm>
      </p:grpSpPr>
      <p:sp>
        <p:nvSpPr>
          <p:cNvPr id="314" name="Google Shape;314;p35"/>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15" name="Google Shape;315;p35"/>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16" name="Google Shape;316;p35"/>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7" name="Google Shape;317;p35"/>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8" name="Google Shape;318;p35"/>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9" name="Google Shape;319;p35"/>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0" name="Google Shape;320;p35"/>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1" name="Google Shape;321;p35"/>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2" name="Google Shape;322;p35"/>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3" name="Google Shape;323;p35"/>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4" name="Google Shape;324;p35"/>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5" name="Google Shape;325;p35"/>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6" name="Google Shape;326;p35"/>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7" name="Google Shape;327;p35"/>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8" name="Google Shape;328;p35"/>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9" name="Google Shape;329;p35"/>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0" name="Google Shape;330;p35"/>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1" name="Google Shape;331;p35"/>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2" name="Google Shape;332;p35"/>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3" name="Google Shape;333;p35"/>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4" name="Google Shape;334;p35"/>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5" name="Google Shape;335;p35"/>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6" name="Google Shape;336;p35"/>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7" name="Google Shape;337;p35"/>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8" name="Google Shape;338;p35"/>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9" name="Google Shape;339;p35"/>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340" name="Shape 340"/>
        <p:cNvGrpSpPr/>
        <p:nvPr/>
      </p:nvGrpSpPr>
      <p:grpSpPr>
        <a:xfrm>
          <a:off x="0" y="0"/>
          <a:ext cx="0" cy="0"/>
          <a:chOff x="0" y="0"/>
          <a:chExt cx="0" cy="0"/>
        </a:xfrm>
      </p:grpSpPr>
      <p:sp>
        <p:nvSpPr>
          <p:cNvPr id="341" name="Google Shape;341;p36"/>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2" name="Google Shape;342;p36"/>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3" name="Google Shape;343;p36"/>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4" name="Google Shape;344;p36"/>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45" name="Google Shape;345;p36"/>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46" name="Google Shape;346;p36"/>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7" name="Google Shape;347;p36"/>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8" name="Google Shape;348;p36"/>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9" name="Google Shape;349;p36"/>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50" name="Shape 350"/>
        <p:cNvGrpSpPr/>
        <p:nvPr/>
      </p:nvGrpSpPr>
      <p:grpSpPr>
        <a:xfrm>
          <a:off x="0" y="0"/>
          <a:ext cx="0" cy="0"/>
          <a:chOff x="0" y="0"/>
          <a:chExt cx="0" cy="0"/>
        </a:xfrm>
      </p:grpSpPr>
      <p:sp>
        <p:nvSpPr>
          <p:cNvPr id="351" name="Google Shape;351;p37"/>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2" name="Google Shape;352;p37"/>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53" name="Google Shape;353;p37"/>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54" name="Google Shape;354;p37"/>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55" name="Shape 355"/>
        <p:cNvGrpSpPr/>
        <p:nvPr/>
      </p:nvGrpSpPr>
      <p:grpSpPr>
        <a:xfrm>
          <a:off x="0" y="0"/>
          <a:ext cx="0" cy="0"/>
          <a:chOff x="0" y="0"/>
          <a:chExt cx="0" cy="0"/>
        </a:xfrm>
      </p:grpSpPr>
      <p:sp>
        <p:nvSpPr>
          <p:cNvPr id="356" name="Google Shape;356;p38"/>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7" name="Google Shape;357;p38"/>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8" name="Google Shape;358;p38"/>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9" name="Google Shape;359;p38"/>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60" name="Google Shape;360;p38"/>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61" name="Google Shape;361;p38"/>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2" name="Google Shape;362;p38"/>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3" name="Google Shape;363;p38"/>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4" name="Google Shape;364;p38"/>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5" name="Google Shape;365;p38"/>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6" name="Google Shape;366;p38"/>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7" name="Google Shape;367;p38"/>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8" name="Google Shape;368;p38"/>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69" name="Shape 369"/>
        <p:cNvGrpSpPr/>
        <p:nvPr/>
      </p:nvGrpSpPr>
      <p:grpSpPr>
        <a:xfrm>
          <a:off x="0" y="0"/>
          <a:ext cx="0" cy="0"/>
          <a:chOff x="0" y="0"/>
          <a:chExt cx="0" cy="0"/>
        </a:xfrm>
      </p:grpSpPr>
      <p:sp>
        <p:nvSpPr>
          <p:cNvPr id="370" name="Google Shape;370;p39"/>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1" name="Google Shape;371;p39"/>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2" name="Google Shape;372;p39"/>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3" name="Google Shape;373;p39"/>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4" name="Google Shape;374;p39"/>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5" name="Google Shape;375;p39"/>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76" name="Google Shape;376;p39"/>
          <p:cNvSpPr/>
          <p:nvPr>
            <p:ph idx="2" type="pic"/>
          </p:nvPr>
        </p:nvSpPr>
        <p:spPr>
          <a:xfrm>
            <a:off x="387475" y="3575855"/>
            <a:ext cx="1309500" cy="1050000"/>
          </a:xfrm>
          <a:prstGeom prst="snip1Rect">
            <a:avLst>
              <a:gd fmla="val 16667" name="adj"/>
            </a:avLst>
          </a:prstGeom>
          <a:noFill/>
          <a:ln>
            <a:noFill/>
          </a:ln>
        </p:spPr>
      </p:sp>
      <p:sp>
        <p:nvSpPr>
          <p:cNvPr id="377" name="Google Shape;377;p39"/>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78" name="Google Shape;378;p39"/>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9" name="Shape 379"/>
        <p:cNvGrpSpPr/>
        <p:nvPr/>
      </p:nvGrpSpPr>
      <p:grpSpPr>
        <a:xfrm>
          <a:off x="0" y="0"/>
          <a:ext cx="0" cy="0"/>
          <a:chOff x="0" y="0"/>
          <a:chExt cx="0" cy="0"/>
        </a:xfrm>
      </p:grpSpPr>
      <p:sp>
        <p:nvSpPr>
          <p:cNvPr id="380" name="Google Shape;380;p40"/>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3" name="Google Shape;383;p41"/>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4" name="Shape 384"/>
        <p:cNvGrpSpPr/>
        <p:nvPr/>
      </p:nvGrpSpPr>
      <p:grpSpPr>
        <a:xfrm>
          <a:off x="0" y="0"/>
          <a:ext cx="0" cy="0"/>
          <a:chOff x="0" y="0"/>
          <a:chExt cx="0" cy="0"/>
        </a:xfrm>
      </p:grpSpPr>
      <p:sp>
        <p:nvSpPr>
          <p:cNvPr id="385" name="Google Shape;385;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6" name="Shape 386"/>
        <p:cNvGrpSpPr/>
        <p:nvPr/>
      </p:nvGrpSpPr>
      <p:grpSpPr>
        <a:xfrm>
          <a:off x="0" y="0"/>
          <a:ext cx="0" cy="0"/>
          <a:chOff x="0" y="0"/>
          <a:chExt cx="0" cy="0"/>
        </a:xfrm>
      </p:grpSpPr>
      <p:sp>
        <p:nvSpPr>
          <p:cNvPr id="387" name="Google Shape;387;p43"/>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8" name="Google Shape;388;p43"/>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9" name="Shape 389"/>
        <p:cNvGrpSpPr/>
        <p:nvPr/>
      </p:nvGrpSpPr>
      <p:grpSpPr>
        <a:xfrm>
          <a:off x="0" y="0"/>
          <a:ext cx="0" cy="0"/>
          <a:chOff x="0" y="0"/>
          <a:chExt cx="0" cy="0"/>
        </a:xfrm>
      </p:grpSpPr>
      <p:sp>
        <p:nvSpPr>
          <p:cNvPr id="390" name="Google Shape;390;p44"/>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1" name="Shape 391"/>
        <p:cNvGrpSpPr/>
        <p:nvPr/>
      </p:nvGrpSpPr>
      <p:grpSpPr>
        <a:xfrm>
          <a:off x="0" y="0"/>
          <a:ext cx="0" cy="0"/>
          <a:chOff x="0" y="0"/>
          <a:chExt cx="0" cy="0"/>
        </a:xfrm>
      </p:grpSpPr>
      <p:sp>
        <p:nvSpPr>
          <p:cNvPr id="392" name="Google Shape;392;p45"/>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3" name="Google Shape;393;p45"/>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94" name="Google Shape;394;p45"/>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5" name="Shape 395"/>
        <p:cNvGrpSpPr/>
        <p:nvPr/>
      </p:nvGrpSpPr>
      <p:grpSpPr>
        <a:xfrm>
          <a:off x="0" y="0"/>
          <a:ext cx="0" cy="0"/>
          <a:chOff x="0" y="0"/>
          <a:chExt cx="0" cy="0"/>
        </a:xfrm>
      </p:grpSpPr>
      <p:sp>
        <p:nvSpPr>
          <p:cNvPr id="396" name="Google Shape;396;p46"/>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7" name="Shape 397"/>
        <p:cNvGrpSpPr/>
        <p:nvPr/>
      </p:nvGrpSpPr>
      <p:grpSpPr>
        <a:xfrm>
          <a:off x="0" y="0"/>
          <a:ext cx="0" cy="0"/>
          <a:chOff x="0" y="0"/>
          <a:chExt cx="0" cy="0"/>
        </a:xfrm>
      </p:grpSpPr>
      <p:sp>
        <p:nvSpPr>
          <p:cNvPr id="398" name="Google Shape;398;p47"/>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9" name="Google Shape;399;p47"/>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0" name="Shape 40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1" name="Shape 401"/>
        <p:cNvGrpSpPr/>
        <p:nvPr/>
      </p:nvGrpSpPr>
      <p:grpSpPr>
        <a:xfrm>
          <a:off x="0" y="0"/>
          <a:ext cx="0" cy="0"/>
          <a:chOff x="0" y="0"/>
          <a:chExt cx="0" cy="0"/>
        </a:xfrm>
      </p:grpSpPr>
      <p:sp>
        <p:nvSpPr>
          <p:cNvPr id="402" name="Google Shape;402;p49"/>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3" name="Google Shape;403;p49"/>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4" name="Google Shape;404;p49"/>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5" name="Google Shape;405;p49"/>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6" name="Google Shape;406;p49"/>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7" name="Google Shape;407;p49"/>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8" name="Google Shape;408;p49"/>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9" name="Shape 409"/>
        <p:cNvGrpSpPr/>
        <p:nvPr/>
      </p:nvGrpSpPr>
      <p:grpSpPr>
        <a:xfrm>
          <a:off x="0" y="0"/>
          <a:ext cx="0" cy="0"/>
          <a:chOff x="0" y="0"/>
          <a:chExt cx="0" cy="0"/>
        </a:xfrm>
      </p:grpSpPr>
      <p:sp>
        <p:nvSpPr>
          <p:cNvPr id="410" name="Google Shape;410;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50"/>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2" name="Google Shape;41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3" name="Shape 413"/>
        <p:cNvGrpSpPr/>
        <p:nvPr/>
      </p:nvGrpSpPr>
      <p:grpSpPr>
        <a:xfrm>
          <a:off x="0" y="0"/>
          <a:ext cx="0" cy="0"/>
          <a:chOff x="0" y="0"/>
          <a:chExt cx="0" cy="0"/>
        </a:xfrm>
      </p:grpSpPr>
      <p:sp>
        <p:nvSpPr>
          <p:cNvPr id="414" name="Google Shape;414;p51"/>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5" name="Google Shape;415;p51"/>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6" name="Google Shape;416;p51"/>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7" name="Google Shape;417;p51"/>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18" name="Google Shape;418;p51"/>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9" name="Shape 419"/>
        <p:cNvGrpSpPr/>
        <p:nvPr/>
      </p:nvGrpSpPr>
      <p:grpSpPr>
        <a:xfrm>
          <a:off x="0" y="0"/>
          <a:ext cx="0" cy="0"/>
          <a:chOff x="0" y="0"/>
          <a:chExt cx="0" cy="0"/>
        </a:xfrm>
      </p:grpSpPr>
      <p:sp>
        <p:nvSpPr>
          <p:cNvPr id="420" name="Google Shape;420;p52"/>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1" name="Google Shape;421;p52"/>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2" name="Google Shape;422;p52"/>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3" name="Google Shape;423;p52"/>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4" name="Google Shape;424;p52"/>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5" name="Google Shape;425;p52"/>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6" name="Google Shape;426;p52"/>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7" name="Shape 427"/>
        <p:cNvGrpSpPr/>
        <p:nvPr/>
      </p:nvGrpSpPr>
      <p:grpSpPr>
        <a:xfrm>
          <a:off x="0" y="0"/>
          <a:ext cx="0" cy="0"/>
          <a:chOff x="0" y="0"/>
          <a:chExt cx="0" cy="0"/>
        </a:xfrm>
      </p:grpSpPr>
      <p:sp>
        <p:nvSpPr>
          <p:cNvPr id="428" name="Google Shape;428;p53"/>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9" name="Google Shape;429;p53"/>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0" name="Google Shape;430;p53"/>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1" name="Google Shape;431;p53"/>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2" name="Google Shape;432;p53"/>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3" name="Google Shape;433;p53"/>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4" name="Google Shape;434;p53"/>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5" name="Google Shape;435;p53"/>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6" name="Google Shape;436;p53"/>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7" name="Shape 437"/>
        <p:cNvGrpSpPr/>
        <p:nvPr/>
      </p:nvGrpSpPr>
      <p:grpSpPr>
        <a:xfrm>
          <a:off x="0" y="0"/>
          <a:ext cx="0" cy="0"/>
          <a:chOff x="0" y="0"/>
          <a:chExt cx="0" cy="0"/>
        </a:xfrm>
      </p:grpSpPr>
      <p:sp>
        <p:nvSpPr>
          <p:cNvPr id="438" name="Google Shape;438;p5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0" name="Shape 440"/>
        <p:cNvGrpSpPr/>
        <p:nvPr/>
      </p:nvGrpSpPr>
      <p:grpSpPr>
        <a:xfrm>
          <a:off x="0" y="0"/>
          <a:ext cx="0" cy="0"/>
          <a:chOff x="0" y="0"/>
          <a:chExt cx="0" cy="0"/>
        </a:xfrm>
      </p:grpSpPr>
      <p:sp>
        <p:nvSpPr>
          <p:cNvPr id="441" name="Google Shape;441;p55"/>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2" name="Google Shape;442;p55"/>
          <p:cNvSpPr/>
          <p:nvPr>
            <p:ph idx="2" type="pic"/>
          </p:nvPr>
        </p:nvSpPr>
        <p:spPr>
          <a:xfrm>
            <a:off x="4804825" y="1133300"/>
            <a:ext cx="4027500" cy="2392800"/>
          </a:xfrm>
          <a:prstGeom prst="rect">
            <a:avLst/>
          </a:prstGeom>
          <a:noFill/>
          <a:ln>
            <a:noFill/>
          </a:ln>
        </p:spPr>
      </p:sp>
      <p:sp>
        <p:nvSpPr>
          <p:cNvPr id="443" name="Google Shape;443;p55"/>
          <p:cNvSpPr/>
          <p:nvPr>
            <p:ph idx="3" type="pic"/>
          </p:nvPr>
        </p:nvSpPr>
        <p:spPr>
          <a:xfrm>
            <a:off x="311725" y="1133300"/>
            <a:ext cx="4027500" cy="2392800"/>
          </a:xfrm>
          <a:prstGeom prst="rect">
            <a:avLst/>
          </a:prstGeom>
          <a:noFill/>
          <a:ln>
            <a:noFill/>
          </a:ln>
        </p:spPr>
      </p:sp>
      <p:sp>
        <p:nvSpPr>
          <p:cNvPr id="444" name="Google Shape;444;p55"/>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5" name="Google Shape;445;p5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6" name="Google Shape;446;p55"/>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47" name="Google Shape;447;p55"/>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8" name="Shape 448"/>
        <p:cNvGrpSpPr/>
        <p:nvPr/>
      </p:nvGrpSpPr>
      <p:grpSpPr>
        <a:xfrm>
          <a:off x="0" y="0"/>
          <a:ext cx="0" cy="0"/>
          <a:chOff x="0" y="0"/>
          <a:chExt cx="0" cy="0"/>
        </a:xfrm>
      </p:grpSpPr>
      <p:sp>
        <p:nvSpPr>
          <p:cNvPr id="449" name="Google Shape;449;p56"/>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0" name="Google Shape;450;p56"/>
          <p:cNvSpPr/>
          <p:nvPr>
            <p:ph idx="2" type="pic"/>
          </p:nvPr>
        </p:nvSpPr>
        <p:spPr>
          <a:xfrm>
            <a:off x="6205225" y="1128325"/>
            <a:ext cx="2627100" cy="2273100"/>
          </a:xfrm>
          <a:prstGeom prst="rect">
            <a:avLst/>
          </a:prstGeom>
          <a:noFill/>
          <a:ln>
            <a:noFill/>
          </a:ln>
        </p:spPr>
      </p:sp>
      <p:sp>
        <p:nvSpPr>
          <p:cNvPr id="451" name="Google Shape;451;p56"/>
          <p:cNvSpPr/>
          <p:nvPr>
            <p:ph idx="3" type="pic"/>
          </p:nvPr>
        </p:nvSpPr>
        <p:spPr>
          <a:xfrm>
            <a:off x="311725" y="1128325"/>
            <a:ext cx="2627100" cy="2273100"/>
          </a:xfrm>
          <a:prstGeom prst="rect">
            <a:avLst/>
          </a:prstGeom>
          <a:noFill/>
          <a:ln>
            <a:noFill/>
          </a:ln>
        </p:spPr>
      </p:sp>
      <p:sp>
        <p:nvSpPr>
          <p:cNvPr id="452" name="Google Shape;452;p56"/>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3" name="Google Shape;453;p56"/>
          <p:cNvSpPr/>
          <p:nvPr>
            <p:ph idx="5" type="pic"/>
          </p:nvPr>
        </p:nvSpPr>
        <p:spPr>
          <a:xfrm>
            <a:off x="3255250" y="1128325"/>
            <a:ext cx="2627100" cy="2273100"/>
          </a:xfrm>
          <a:prstGeom prst="rect">
            <a:avLst/>
          </a:prstGeom>
          <a:noFill/>
          <a:ln>
            <a:noFill/>
          </a:ln>
        </p:spPr>
      </p:sp>
      <p:sp>
        <p:nvSpPr>
          <p:cNvPr id="454" name="Google Shape;454;p56"/>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5" name="Google Shape;455;p5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6"/>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7" name="Google Shape;457;p56"/>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8" name="Google Shape;458;p56"/>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9" name="Shape 459"/>
        <p:cNvGrpSpPr/>
        <p:nvPr/>
      </p:nvGrpSpPr>
      <p:grpSpPr>
        <a:xfrm>
          <a:off x="0" y="0"/>
          <a:ext cx="0" cy="0"/>
          <a:chOff x="0" y="0"/>
          <a:chExt cx="0" cy="0"/>
        </a:xfrm>
      </p:grpSpPr>
      <p:sp>
        <p:nvSpPr>
          <p:cNvPr id="460" name="Google Shape;46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1" name="Shape 461"/>
        <p:cNvGrpSpPr/>
        <p:nvPr/>
      </p:nvGrpSpPr>
      <p:grpSpPr>
        <a:xfrm>
          <a:off x="0" y="0"/>
          <a:ext cx="0" cy="0"/>
          <a:chOff x="0" y="0"/>
          <a:chExt cx="0" cy="0"/>
        </a:xfrm>
      </p:grpSpPr>
      <p:sp>
        <p:nvSpPr>
          <p:cNvPr id="462" name="Google Shape;462;p58"/>
          <p:cNvSpPr/>
          <p:nvPr>
            <p:ph idx="2" type="pic"/>
          </p:nvPr>
        </p:nvSpPr>
        <p:spPr>
          <a:xfrm>
            <a:off x="3389600" y="118913"/>
            <a:ext cx="1643700" cy="1535100"/>
          </a:xfrm>
          <a:prstGeom prst="rect">
            <a:avLst/>
          </a:prstGeom>
          <a:noFill/>
          <a:ln>
            <a:noFill/>
          </a:ln>
        </p:spPr>
      </p:sp>
      <p:sp>
        <p:nvSpPr>
          <p:cNvPr id="463" name="Google Shape;463;p58"/>
          <p:cNvSpPr/>
          <p:nvPr>
            <p:ph idx="3" type="pic"/>
          </p:nvPr>
        </p:nvSpPr>
        <p:spPr>
          <a:xfrm>
            <a:off x="5195935" y="118913"/>
            <a:ext cx="1643700" cy="1535100"/>
          </a:xfrm>
          <a:prstGeom prst="rect">
            <a:avLst/>
          </a:prstGeom>
          <a:noFill/>
          <a:ln>
            <a:noFill/>
          </a:ln>
        </p:spPr>
      </p:sp>
      <p:sp>
        <p:nvSpPr>
          <p:cNvPr id="464" name="Google Shape;464;p58"/>
          <p:cNvSpPr/>
          <p:nvPr>
            <p:ph idx="4" type="pic"/>
          </p:nvPr>
        </p:nvSpPr>
        <p:spPr>
          <a:xfrm>
            <a:off x="7002270" y="118913"/>
            <a:ext cx="1643700" cy="1535100"/>
          </a:xfrm>
          <a:prstGeom prst="rect">
            <a:avLst/>
          </a:prstGeom>
          <a:noFill/>
          <a:ln>
            <a:noFill/>
          </a:ln>
        </p:spPr>
      </p:sp>
      <p:sp>
        <p:nvSpPr>
          <p:cNvPr id="465" name="Google Shape;465;p58"/>
          <p:cNvSpPr/>
          <p:nvPr>
            <p:ph idx="5" type="pic"/>
          </p:nvPr>
        </p:nvSpPr>
        <p:spPr>
          <a:xfrm>
            <a:off x="3389588" y="1804212"/>
            <a:ext cx="1643700" cy="1535100"/>
          </a:xfrm>
          <a:prstGeom prst="rect">
            <a:avLst/>
          </a:prstGeom>
          <a:noFill/>
          <a:ln>
            <a:noFill/>
          </a:ln>
        </p:spPr>
      </p:sp>
      <p:sp>
        <p:nvSpPr>
          <p:cNvPr id="466" name="Google Shape;466;p58"/>
          <p:cNvSpPr/>
          <p:nvPr>
            <p:ph idx="6" type="pic"/>
          </p:nvPr>
        </p:nvSpPr>
        <p:spPr>
          <a:xfrm>
            <a:off x="5195922" y="1804212"/>
            <a:ext cx="1643700" cy="1535100"/>
          </a:xfrm>
          <a:prstGeom prst="rect">
            <a:avLst/>
          </a:prstGeom>
          <a:noFill/>
          <a:ln>
            <a:noFill/>
          </a:ln>
        </p:spPr>
      </p:sp>
      <p:sp>
        <p:nvSpPr>
          <p:cNvPr id="467" name="Google Shape;467;p58"/>
          <p:cNvSpPr/>
          <p:nvPr>
            <p:ph idx="7" type="pic"/>
          </p:nvPr>
        </p:nvSpPr>
        <p:spPr>
          <a:xfrm>
            <a:off x="7002257" y="1804212"/>
            <a:ext cx="1643700" cy="1535100"/>
          </a:xfrm>
          <a:prstGeom prst="rect">
            <a:avLst/>
          </a:prstGeom>
          <a:noFill/>
          <a:ln>
            <a:noFill/>
          </a:ln>
        </p:spPr>
      </p:sp>
      <p:sp>
        <p:nvSpPr>
          <p:cNvPr id="468" name="Google Shape;468;p58"/>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9" name="Google Shape;469;p58"/>
          <p:cNvSpPr/>
          <p:nvPr>
            <p:ph idx="8" type="pic"/>
          </p:nvPr>
        </p:nvSpPr>
        <p:spPr>
          <a:xfrm>
            <a:off x="3389588" y="3489487"/>
            <a:ext cx="1643700" cy="1535100"/>
          </a:xfrm>
          <a:prstGeom prst="rect">
            <a:avLst/>
          </a:prstGeom>
          <a:noFill/>
          <a:ln>
            <a:noFill/>
          </a:ln>
        </p:spPr>
      </p:sp>
      <p:sp>
        <p:nvSpPr>
          <p:cNvPr id="470" name="Google Shape;470;p58"/>
          <p:cNvSpPr/>
          <p:nvPr>
            <p:ph idx="9" type="pic"/>
          </p:nvPr>
        </p:nvSpPr>
        <p:spPr>
          <a:xfrm>
            <a:off x="5195922" y="3489487"/>
            <a:ext cx="1643700" cy="1535100"/>
          </a:xfrm>
          <a:prstGeom prst="rect">
            <a:avLst/>
          </a:prstGeom>
          <a:noFill/>
          <a:ln>
            <a:noFill/>
          </a:ln>
        </p:spPr>
      </p:sp>
      <p:sp>
        <p:nvSpPr>
          <p:cNvPr id="471" name="Google Shape;47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2.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52" name="Google Shape;52;p13"/>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hyperlink" Target="https://catalog.data.gov/dataset/high-resolution-floating-solar-pv-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9"/>
          <p:cNvSpPr txBox="1"/>
          <p:nvPr>
            <p:ph idx="1" type="subTitle"/>
          </p:nvPr>
        </p:nvSpPr>
        <p:spPr>
          <a:xfrm>
            <a:off x="958450" y="4298625"/>
            <a:ext cx="46449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rPr lang="en">
                <a:latin typeface="Quantico"/>
                <a:ea typeface="Quantico"/>
                <a:cs typeface="Quantico"/>
                <a:sym typeface="Quantico"/>
              </a:rPr>
              <a:t>Date: [06-05-2026]</a:t>
            </a:r>
            <a:endParaRPr>
              <a:latin typeface="Quantico"/>
              <a:ea typeface="Quantico"/>
              <a:cs typeface="Quantico"/>
              <a:sym typeface="Quantico"/>
            </a:endParaRPr>
          </a:p>
          <a:p>
            <a:pPr indent="0" lvl="0" marL="0" rtl="0" algn="l">
              <a:lnSpc>
                <a:spcPct val="100000"/>
              </a:lnSpc>
              <a:spcBef>
                <a:spcPts val="0"/>
              </a:spcBef>
              <a:spcAft>
                <a:spcPts val="0"/>
              </a:spcAft>
              <a:buSzPts val="1100"/>
              <a:buNone/>
            </a:pPr>
            <a:r>
              <a:rPr lang="en">
                <a:latin typeface="Quantico"/>
                <a:ea typeface="Quantico"/>
                <a:cs typeface="Quantico"/>
                <a:sym typeface="Quantico"/>
              </a:rPr>
              <a:t>By: Clayton Hanna, Trevor Schonbrun, Mathias Fay</a:t>
            </a:r>
            <a:endParaRPr>
              <a:latin typeface="Quantico"/>
              <a:ea typeface="Quantico"/>
              <a:cs typeface="Quantico"/>
              <a:sym typeface="Quantico"/>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SzPts val="1100"/>
              <a:buNone/>
            </a:pPr>
            <a:r>
              <a:t/>
            </a:r>
            <a:endParaRPr/>
          </a:p>
        </p:txBody>
      </p:sp>
      <p:sp>
        <p:nvSpPr>
          <p:cNvPr id="477" name="Google Shape;477;p59"/>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a:t>Floating Solar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81" name="Shape 481"/>
        <p:cNvGrpSpPr/>
        <p:nvPr/>
      </p:nvGrpSpPr>
      <p:grpSpPr>
        <a:xfrm>
          <a:off x="0" y="0"/>
          <a:ext cx="0" cy="0"/>
          <a:chOff x="0" y="0"/>
          <a:chExt cx="0" cy="0"/>
        </a:xfrm>
      </p:grpSpPr>
      <p:sp>
        <p:nvSpPr>
          <p:cNvPr id="482" name="Google Shape;482;p60"/>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1:</a:t>
            </a:r>
            <a:r>
              <a:rPr lang="en"/>
              <a:t> Data to be used</a:t>
            </a:r>
            <a:endParaRPr/>
          </a:p>
        </p:txBody>
      </p:sp>
      <p:sp>
        <p:nvSpPr>
          <p:cNvPr id="483" name="Google Shape;483;p60"/>
          <p:cNvSpPr txBox="1"/>
          <p:nvPr>
            <p:ph idx="4294967295" type="body"/>
          </p:nvPr>
        </p:nvSpPr>
        <p:spPr>
          <a:xfrm>
            <a:off x="560025" y="1152475"/>
            <a:ext cx="8037900" cy="3416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None/>
            </a:pPr>
            <a:r>
              <a:rPr lang="en" sz="1100">
                <a:solidFill>
                  <a:schemeClr val="accent6"/>
                </a:solidFill>
              </a:rPr>
              <a:t>Data Link: </a:t>
            </a:r>
            <a:r>
              <a:rPr lang="en" sz="1100" u="sng">
                <a:solidFill>
                  <a:schemeClr val="accent6"/>
                </a:solidFill>
                <a:hlinkClick r:id="rId3">
                  <a:extLst>
                    <a:ext uri="{A12FA001-AC4F-418D-AE19-62706E023703}">
                      <ahyp:hlinkClr val="tx"/>
                    </a:ext>
                  </a:extLst>
                </a:hlinkClick>
              </a:rPr>
              <a:t>https://catalog.data.gov/dataset/high-resolution-floating-solar-pv-data</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Data Source: Department of Energy - High-Resolution Floating Solar PV Data</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Available Data sets: 16</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Dataset filetype: .csv</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File size: ~10-80 Mb</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Resolution: data point every 5 minutes (24/7)</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Specific datasets of choice:	FPV_Oakville_CA_Inverter1.csv</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				FPV_Altamonte_FL_data.csv</a:t>
            </a:r>
            <a:endParaRPr sz="1100">
              <a:solidFill>
                <a:schemeClr val="accent6"/>
              </a:solidFill>
            </a:endParaRPr>
          </a:p>
          <a:p>
            <a:pPr indent="0" lvl="0" marL="0" rtl="0" algn="l">
              <a:lnSpc>
                <a:spcPct val="100000"/>
              </a:lnSpc>
              <a:spcBef>
                <a:spcPts val="0"/>
              </a:spcBef>
              <a:spcAft>
                <a:spcPts val="0"/>
              </a:spcAft>
              <a:buNone/>
            </a:pPr>
            <a:r>
              <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Dataset description: </a:t>
            </a:r>
            <a:endParaRPr sz="1100">
              <a:solidFill>
                <a:schemeClr val="accent6"/>
              </a:solidFill>
            </a:endParaRPr>
          </a:p>
          <a:p>
            <a:pPr indent="0" lvl="0" marL="0" rtl="0" algn="l">
              <a:lnSpc>
                <a:spcPct val="100000"/>
              </a:lnSpc>
              <a:spcBef>
                <a:spcPts val="0"/>
              </a:spcBef>
              <a:spcAft>
                <a:spcPts val="0"/>
              </a:spcAft>
              <a:buNone/>
            </a:pPr>
            <a:r>
              <a:rPr lang="en" sz="1100">
                <a:solidFill>
                  <a:schemeClr val="accent6"/>
                </a:solidFill>
              </a:rPr>
              <a:t>Data is time, voltage and resistance (as well as some temperature and other water-related) data acquired on a set of floating solar panels positioned in locations such as Oakville, California, as part of a survey of the meteorological conditions of the area. The voltage and time data can be used to identify details about the location such as the length of daylight for each day, the intensity of it, the frequency of solar impacting weather (such as clouds or storm), and solar incidence based on long term conditions (seaons).</a:t>
            </a:r>
            <a:endParaRPr sz="1100">
              <a:solidFill>
                <a:schemeClr val="accent6"/>
              </a:solidFill>
            </a:endParaRPr>
          </a:p>
          <a:p>
            <a:pPr indent="0" lvl="0" marL="0" rtl="0" algn="l">
              <a:lnSpc>
                <a:spcPct val="100000"/>
              </a:lnSpc>
              <a:spcBef>
                <a:spcPts val="0"/>
              </a:spcBef>
              <a:spcAft>
                <a:spcPts val="0"/>
              </a:spcAft>
              <a:buNone/>
            </a:pPr>
            <a:r>
              <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87" name="Shape 487"/>
        <p:cNvGrpSpPr/>
        <p:nvPr/>
      </p:nvGrpSpPr>
      <p:grpSpPr>
        <a:xfrm>
          <a:off x="0" y="0"/>
          <a:ext cx="0" cy="0"/>
          <a:chOff x="0" y="0"/>
          <a:chExt cx="0" cy="0"/>
        </a:xfrm>
      </p:grpSpPr>
      <p:pic>
        <p:nvPicPr>
          <p:cNvPr id="488" name="Google Shape;488;p61"/>
          <p:cNvPicPr preferRelativeResize="0"/>
          <p:nvPr/>
        </p:nvPicPr>
        <p:blipFill>
          <a:blip r:embed="rId3">
            <a:alphaModFix/>
          </a:blip>
          <a:stretch>
            <a:fillRect/>
          </a:stretch>
        </p:blipFill>
        <p:spPr>
          <a:xfrm>
            <a:off x="249200" y="1017225"/>
            <a:ext cx="8654048" cy="3877050"/>
          </a:xfrm>
          <a:prstGeom prst="rect">
            <a:avLst/>
          </a:prstGeom>
          <a:noFill/>
          <a:ln>
            <a:noFill/>
          </a:ln>
        </p:spPr>
      </p:pic>
      <p:sp>
        <p:nvSpPr>
          <p:cNvPr id="489" name="Google Shape;489;p61"/>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b="1" lang="en"/>
              <a:t>Task 1:</a:t>
            </a:r>
            <a:r>
              <a:rPr lang="en"/>
              <a:t> Understanding the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93" name="Shape 493"/>
        <p:cNvGrpSpPr/>
        <p:nvPr/>
      </p:nvGrpSpPr>
      <p:grpSpPr>
        <a:xfrm>
          <a:off x="0" y="0"/>
          <a:ext cx="0" cy="0"/>
          <a:chOff x="0" y="0"/>
          <a:chExt cx="0" cy="0"/>
        </a:xfrm>
      </p:grpSpPr>
      <p:sp>
        <p:nvSpPr>
          <p:cNvPr id="494" name="Google Shape;494;p62"/>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495" name="Google Shape;495;p62"/>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1200"/>
              </a:spcBef>
              <a:spcAft>
                <a:spcPts val="0"/>
              </a:spcAft>
              <a:buNone/>
            </a:pPr>
            <a:r>
              <a:rPr b="1" lang="en">
                <a:solidFill>
                  <a:schemeClr val="accent6"/>
                </a:solidFill>
              </a:rPr>
              <a:t>(1) </a:t>
            </a:r>
            <a:r>
              <a:rPr b="1" lang="en">
                <a:solidFill>
                  <a:schemeClr val="accent6"/>
                </a:solidFill>
              </a:rPr>
              <a:t>What is the length of a daylight period in Oakville?</a:t>
            </a:r>
            <a:endParaRPr b="1" i="1">
              <a:solidFill>
                <a:schemeClr val="accent6"/>
              </a:solidFill>
            </a:endParaRPr>
          </a:p>
          <a:p>
            <a:pPr indent="0" lvl="0" marL="0" rtl="0" algn="l">
              <a:spcBef>
                <a:spcPts val="0"/>
              </a:spcBef>
              <a:spcAft>
                <a:spcPts val="0"/>
              </a:spcAft>
              <a:buNone/>
            </a:pPr>
            <a:r>
              <a:rPr lang="en" sz="1100">
                <a:solidFill>
                  <a:schemeClr val="accent6"/>
                </a:solidFill>
              </a:rPr>
              <a:t>Establishing a baseline length of time for which the daylight of a day occurs is a good way to find out what would be reasonable “work” hours at the location. We can also use this information with other considerations (e.g average solar incidence curves) to figure out if there are unusual drops in solar radiation, thus suggesting interference due to weather. This question would be answered by finding when the solar rig begins to see a voltage gain to when it has a voltage drop, and marking the start time, length and end time of this period in a variable set. This value would be a length of time measured in hours and minutes.</a:t>
            </a:r>
            <a:endParaRPr sz="1100">
              <a:solidFill>
                <a:schemeClr val="accent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99" name="Shape 499"/>
        <p:cNvGrpSpPr/>
        <p:nvPr/>
      </p:nvGrpSpPr>
      <p:grpSpPr>
        <a:xfrm>
          <a:off x="0" y="0"/>
          <a:ext cx="0" cy="0"/>
          <a:chOff x="0" y="0"/>
          <a:chExt cx="0" cy="0"/>
        </a:xfrm>
      </p:grpSpPr>
      <p:sp>
        <p:nvSpPr>
          <p:cNvPr id="500" name="Google Shape;500;p63"/>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501" name="Google Shape;501;p63"/>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solidFill>
                  <a:schemeClr val="accent6"/>
                </a:solidFill>
              </a:rPr>
              <a:t>(2) What is the peak/average solar output of the panel (for a 24hr period)?</a:t>
            </a:r>
            <a:endParaRPr b="1">
              <a:solidFill>
                <a:schemeClr val="accent6"/>
              </a:solidFill>
            </a:endParaRPr>
          </a:p>
          <a:p>
            <a:pPr indent="0" lvl="0" marL="0" rtl="0" algn="l">
              <a:spcBef>
                <a:spcPts val="0"/>
              </a:spcBef>
              <a:spcAft>
                <a:spcPts val="0"/>
              </a:spcAft>
              <a:buNone/>
            </a:pPr>
            <a:r>
              <a:rPr lang="en" sz="1100">
                <a:solidFill>
                  <a:schemeClr val="accent6"/>
                </a:solidFill>
              </a:rPr>
              <a:t>Determining optimal solar field locations is typically contingent one a few major things; cost of installation, environmental impact, and power output per cost. Since we have data on time and AC output, we can compare the max value and average values of the AC output power of the panel to obtain the actual “production” of power per space. This value would be a wattage.</a:t>
            </a:r>
            <a:endParaRPr b="1">
              <a:solidFill>
                <a:schemeClr val="accent6"/>
              </a:solidFill>
            </a:endParaRPr>
          </a:p>
          <a:p>
            <a:pPr indent="0" lvl="0" marL="0" rtl="0" algn="l">
              <a:spcBef>
                <a:spcPts val="0"/>
              </a:spcBef>
              <a:spcAft>
                <a:spcPts val="0"/>
              </a:spcAft>
              <a:buNone/>
            </a:pPr>
            <a:r>
              <a:t/>
            </a:r>
            <a:endParaRPr b="1">
              <a:solidFill>
                <a:schemeClr val="accent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05" name="Shape 505"/>
        <p:cNvGrpSpPr/>
        <p:nvPr/>
      </p:nvGrpSpPr>
      <p:grpSpPr>
        <a:xfrm>
          <a:off x="0" y="0"/>
          <a:ext cx="0" cy="0"/>
          <a:chOff x="0" y="0"/>
          <a:chExt cx="0" cy="0"/>
        </a:xfrm>
      </p:grpSpPr>
      <p:sp>
        <p:nvSpPr>
          <p:cNvPr id="506" name="Google Shape;506;p64"/>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507" name="Google Shape;507;p64"/>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solidFill>
                  <a:schemeClr val="accent6"/>
                </a:solidFill>
              </a:rPr>
              <a:t>(3) How does solar panel temperature affect power output in PV systems?</a:t>
            </a:r>
            <a:endParaRPr b="1">
              <a:solidFill>
                <a:schemeClr val="accent6"/>
              </a:solidFill>
            </a:endParaRPr>
          </a:p>
          <a:p>
            <a:pPr indent="0" lvl="0" marL="0" rtl="0" algn="l">
              <a:spcBef>
                <a:spcPts val="0"/>
              </a:spcBef>
              <a:spcAft>
                <a:spcPts val="0"/>
              </a:spcAft>
              <a:buNone/>
            </a:pPr>
            <a:r>
              <a:rPr lang="en" sz="1100">
                <a:solidFill>
                  <a:schemeClr val="accent6"/>
                </a:solidFill>
              </a:rPr>
              <a:t>The efficiency of a solar panel refers to how much sunlight it can convert into usable energy. Due to the physics of solar cells, solar panels become less efficient as their temperature increases. Typically, solar panels lose 0.3% to 0.5% efficiency for every 1°C increase in temperature above 25°C, but it would be important to find the true value for this dataset. The variables of interest for this question are the various panel temperatures and the inverter AC power output. By graphing the power output at various panel temperatures, the effect of temperature can be determined. This value would be a expression of how wattage is related to the temperature.</a:t>
            </a:r>
            <a:endParaRPr b="1">
              <a:solidFill>
                <a:schemeClr val="accent6"/>
              </a:solidFill>
            </a:endParaRPr>
          </a:p>
          <a:p>
            <a:pPr indent="0" lvl="0" marL="0" rtl="0" algn="l">
              <a:spcBef>
                <a:spcPts val="0"/>
              </a:spcBef>
              <a:spcAft>
                <a:spcPts val="0"/>
              </a:spcAft>
              <a:buNone/>
            </a:pPr>
            <a:r>
              <a:t/>
            </a:r>
            <a:endParaRPr b="1">
              <a:solidFill>
                <a:schemeClr val="accent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11" name="Shape 511"/>
        <p:cNvGrpSpPr/>
        <p:nvPr/>
      </p:nvGrpSpPr>
      <p:grpSpPr>
        <a:xfrm>
          <a:off x="0" y="0"/>
          <a:ext cx="0" cy="0"/>
          <a:chOff x="0" y="0"/>
          <a:chExt cx="0" cy="0"/>
        </a:xfrm>
      </p:grpSpPr>
      <p:sp>
        <p:nvSpPr>
          <p:cNvPr id="512" name="Google Shape;512;p65"/>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513" name="Google Shape;513;p65"/>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solidFill>
                  <a:schemeClr val="accent6"/>
                </a:solidFill>
              </a:rPr>
              <a:t>(4) </a:t>
            </a:r>
            <a:r>
              <a:rPr b="1" lang="en">
                <a:solidFill>
                  <a:schemeClr val="accent6"/>
                </a:solidFill>
              </a:rPr>
              <a:t>What is the frequency of clouds?</a:t>
            </a:r>
            <a:endParaRPr b="1">
              <a:solidFill>
                <a:schemeClr val="accent6"/>
              </a:solidFill>
            </a:endParaRPr>
          </a:p>
          <a:p>
            <a:pPr indent="0" lvl="0" marL="0" rtl="0" algn="l">
              <a:spcBef>
                <a:spcPts val="0"/>
              </a:spcBef>
              <a:spcAft>
                <a:spcPts val="0"/>
              </a:spcAft>
              <a:buNone/>
            </a:pPr>
            <a:r>
              <a:rPr lang="en" sz="1100">
                <a:solidFill>
                  <a:schemeClr val="accent6"/>
                </a:solidFill>
              </a:rPr>
              <a:t>Based on variance in the output of the solar panels, what percentage of time, and how many of these differences in output, occur per day? This could be inferred by modelling the expected output based on the top three or five values out of a range of data points, and seeing if the actual data gathered follows that curve closely or not; if not, then the periods where it is lower than expected are likely to have experienced clouds. Some issues may occur if the area experiences clouds the entire daylight period (which may require comparison/extrapolation by other days to resolve). This value would be a number of instances, and a % value or time value for period of cloudiness.</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17" name="Shape 517"/>
        <p:cNvGrpSpPr/>
        <p:nvPr/>
      </p:nvGrpSpPr>
      <p:grpSpPr>
        <a:xfrm>
          <a:off x="0" y="0"/>
          <a:ext cx="0" cy="0"/>
          <a:chOff x="0" y="0"/>
          <a:chExt cx="0" cy="0"/>
        </a:xfrm>
      </p:grpSpPr>
      <p:sp>
        <p:nvSpPr>
          <p:cNvPr id="518" name="Google Shape;518;p66"/>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519" name="Google Shape;519;p66"/>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solidFill>
                  <a:schemeClr val="accent6"/>
                </a:solidFill>
              </a:rPr>
              <a:t>(5) </a:t>
            </a:r>
            <a:r>
              <a:rPr b="1" lang="en">
                <a:solidFill>
                  <a:schemeClr val="accent6"/>
                </a:solidFill>
              </a:rPr>
              <a:t>Which environmental factors have the biggest impact on power output?</a:t>
            </a:r>
            <a:endParaRPr b="1">
              <a:solidFill>
                <a:schemeClr val="accent6"/>
              </a:solidFill>
            </a:endParaRPr>
          </a:p>
          <a:p>
            <a:pPr indent="0" lvl="0" marL="0" rtl="0" algn="l">
              <a:spcBef>
                <a:spcPts val="0"/>
              </a:spcBef>
              <a:spcAft>
                <a:spcPts val="0"/>
              </a:spcAft>
              <a:buNone/>
            </a:pPr>
            <a:r>
              <a:rPr lang="en" sz="1100">
                <a:solidFill>
                  <a:schemeClr val="accent6"/>
                </a:solidFill>
              </a:rPr>
              <a:t>Many environmental variables are measured in this dataset, such as relative humidity, irradiance, ambient temperature, water temperature, and wind speed and direction. Some of these may greatly affect the power output of the floating PV system, while others may not. Determining which variables affect the performance of the system could lead to future improvements in overall system design. This would be calculated by comparing variance of specific variables to the variance of output DC power. The values for this would be a relation comparing the dependant variable (output power) to input variables (all other variables).</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23" name="Shape 523"/>
        <p:cNvGrpSpPr/>
        <p:nvPr/>
      </p:nvGrpSpPr>
      <p:grpSpPr>
        <a:xfrm>
          <a:off x="0" y="0"/>
          <a:ext cx="0" cy="0"/>
          <a:chOff x="0" y="0"/>
          <a:chExt cx="0" cy="0"/>
        </a:xfrm>
      </p:grpSpPr>
      <p:sp>
        <p:nvSpPr>
          <p:cNvPr id="524" name="Google Shape;524;p67"/>
          <p:cNvSpPr txBox="1"/>
          <p:nvPr>
            <p:ph type="title"/>
          </p:nvPr>
        </p:nvSpPr>
        <p:spPr>
          <a:xfrm>
            <a:off x="560025" y="544750"/>
            <a:ext cx="8272200" cy="473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2:</a:t>
            </a:r>
            <a:r>
              <a:rPr lang="en"/>
              <a:t> Developing questions</a:t>
            </a:r>
            <a:endParaRPr/>
          </a:p>
        </p:txBody>
      </p:sp>
      <p:sp>
        <p:nvSpPr>
          <p:cNvPr id="525" name="Google Shape;525;p67"/>
          <p:cNvSpPr txBox="1"/>
          <p:nvPr>
            <p:ph idx="4294967295" type="body"/>
          </p:nvPr>
        </p:nvSpPr>
        <p:spPr>
          <a:xfrm>
            <a:off x="560100" y="1152475"/>
            <a:ext cx="8021100" cy="34164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solidFill>
                  <a:schemeClr val="accent6"/>
                </a:solidFill>
              </a:rPr>
              <a:t>(6) </a:t>
            </a:r>
            <a:r>
              <a:rPr b="1" lang="en">
                <a:solidFill>
                  <a:schemeClr val="accent6"/>
                </a:solidFill>
              </a:rPr>
              <a:t>How does power output vary over time?</a:t>
            </a:r>
            <a:endParaRPr b="1">
              <a:solidFill>
                <a:schemeClr val="accent6"/>
              </a:solidFill>
            </a:endParaRPr>
          </a:p>
          <a:p>
            <a:pPr indent="0" lvl="0" marL="0" rtl="0" algn="l">
              <a:spcBef>
                <a:spcPts val="0"/>
              </a:spcBef>
              <a:spcAft>
                <a:spcPts val="0"/>
              </a:spcAft>
              <a:buNone/>
            </a:pPr>
            <a:r>
              <a:rPr lang="en" sz="1100">
                <a:solidFill>
                  <a:schemeClr val="accent6"/>
                </a:solidFill>
              </a:rPr>
              <a:t>The datasets provided do not have a clear definite start date. They provide a seven digit number that increases by one every day. If we make some inferences based on changes in solar incident radiation on earth based on position, what is the day which a specific section of data is attached to? This would be identified by comparing the expected relative curves of the regions normal power output per meter to our datasets, and seeing how the variance over long-term time (months) compares to other cleaned and identified datasets. This would be measured in a relation based on watts per time.</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a:p>
            <a:pPr indent="0" lvl="0" marL="0" rtl="0" algn="l">
              <a:spcBef>
                <a:spcPts val="0"/>
              </a:spcBef>
              <a:spcAft>
                <a:spcPts val="0"/>
              </a:spcAft>
              <a:buNone/>
            </a:pPr>
            <a:r>
              <a:t/>
            </a:r>
            <a:endParaRPr b="1">
              <a:solidFill>
                <a:schemeClr val="accent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29" name="Shape 529"/>
        <p:cNvGrpSpPr/>
        <p:nvPr/>
      </p:nvGrpSpPr>
      <p:grpSpPr>
        <a:xfrm>
          <a:off x="0" y="0"/>
          <a:ext cx="0" cy="0"/>
          <a:chOff x="0" y="0"/>
          <a:chExt cx="0" cy="0"/>
        </a:xfrm>
      </p:grpSpPr>
      <p:graphicFrame>
        <p:nvGraphicFramePr>
          <p:cNvPr id="530" name="Google Shape;530;p68"/>
          <p:cNvGraphicFramePr/>
          <p:nvPr/>
        </p:nvGraphicFramePr>
        <p:xfrm>
          <a:off x="117325" y="1017725"/>
          <a:ext cx="3000000" cy="3000000"/>
        </p:xfrm>
        <a:graphic>
          <a:graphicData uri="http://schemas.openxmlformats.org/drawingml/2006/table">
            <a:tbl>
              <a:tblPr>
                <a:noFill/>
                <a:tableStyleId>{F0197F19-CE84-400B-AF90-2E6C48A5B591}</a:tableStyleId>
              </a:tblPr>
              <a:tblGrid>
                <a:gridCol w="2383425"/>
                <a:gridCol w="1898475"/>
                <a:gridCol w="1114750"/>
                <a:gridCol w="1181650"/>
                <a:gridCol w="2332275"/>
              </a:tblGrid>
              <a:tr h="381000">
                <a:tc>
                  <a:txBody>
                    <a:bodyPr/>
                    <a:lstStyle/>
                    <a:p>
                      <a:pPr indent="0" lvl="0" marL="0" rtl="0" algn="ctr">
                        <a:spcBef>
                          <a:spcPts val="0"/>
                        </a:spcBef>
                        <a:spcAft>
                          <a:spcPts val="0"/>
                        </a:spcAft>
                        <a:buNone/>
                      </a:pPr>
                      <a:r>
                        <a:rPr b="1" lang="en" sz="900">
                          <a:solidFill>
                            <a:schemeClr val="accent6"/>
                          </a:solidFill>
                        </a:rPr>
                        <a:t>Question</a:t>
                      </a:r>
                      <a:endParaRPr b="1" sz="900">
                        <a:solidFill>
                          <a:schemeClr val="accent6"/>
                        </a:solidFill>
                      </a:endParaRPr>
                    </a:p>
                  </a:txBody>
                  <a:tcPr marT="91425" marB="91425" marR="91425" marL="91425" anchor="ctr">
                    <a:solidFill>
                      <a:schemeClr val="dk2"/>
                    </a:solidFill>
                  </a:tcPr>
                </a:tc>
                <a:tc>
                  <a:txBody>
                    <a:bodyPr/>
                    <a:lstStyle/>
                    <a:p>
                      <a:pPr indent="0" lvl="0" marL="0" rtl="0" algn="ctr">
                        <a:spcBef>
                          <a:spcPts val="0"/>
                        </a:spcBef>
                        <a:spcAft>
                          <a:spcPts val="0"/>
                        </a:spcAft>
                        <a:buNone/>
                      </a:pPr>
                      <a:r>
                        <a:rPr b="1" lang="en" sz="900">
                          <a:solidFill>
                            <a:schemeClr val="accent6"/>
                          </a:solidFill>
                        </a:rPr>
                        <a:t>What aspect/feature will be used?</a:t>
                      </a:r>
                      <a:endParaRPr b="1" sz="900">
                        <a:solidFill>
                          <a:schemeClr val="accent6"/>
                        </a:solidFill>
                      </a:endParaRPr>
                    </a:p>
                  </a:txBody>
                  <a:tcPr marT="91425" marB="91425" marR="91425" marL="91425" anchor="ctr">
                    <a:solidFill>
                      <a:schemeClr val="dk2"/>
                    </a:solidFill>
                  </a:tcPr>
                </a:tc>
                <a:tc>
                  <a:txBody>
                    <a:bodyPr/>
                    <a:lstStyle/>
                    <a:p>
                      <a:pPr indent="0" lvl="0" marL="0" rtl="0" algn="ctr">
                        <a:spcBef>
                          <a:spcPts val="0"/>
                        </a:spcBef>
                        <a:spcAft>
                          <a:spcPts val="0"/>
                        </a:spcAft>
                        <a:buNone/>
                      </a:pPr>
                      <a:r>
                        <a:rPr b="1" lang="en" sz="900">
                          <a:solidFill>
                            <a:schemeClr val="accent6"/>
                          </a:solidFill>
                        </a:rPr>
                        <a:t>Can we </a:t>
                      </a:r>
                      <a:r>
                        <a:rPr b="1" lang="en" sz="900">
                          <a:solidFill>
                            <a:schemeClr val="accent6"/>
                          </a:solidFill>
                        </a:rPr>
                        <a:t>answer this question?</a:t>
                      </a:r>
                      <a:endParaRPr b="1" sz="900">
                        <a:solidFill>
                          <a:schemeClr val="accent6"/>
                        </a:solidFill>
                      </a:endParaRPr>
                    </a:p>
                  </a:txBody>
                  <a:tcPr marT="91425" marB="91425" marR="91425" marL="91425" anchor="ctr">
                    <a:solidFill>
                      <a:schemeClr val="dk2"/>
                    </a:solidFill>
                  </a:tcPr>
                </a:tc>
                <a:tc>
                  <a:txBody>
                    <a:bodyPr/>
                    <a:lstStyle/>
                    <a:p>
                      <a:pPr indent="0" lvl="0" marL="0" rtl="0" algn="ctr">
                        <a:spcBef>
                          <a:spcPts val="0"/>
                        </a:spcBef>
                        <a:spcAft>
                          <a:spcPts val="0"/>
                        </a:spcAft>
                        <a:buNone/>
                      </a:pPr>
                      <a:r>
                        <a:rPr b="1" lang="en" sz="900">
                          <a:solidFill>
                            <a:schemeClr val="accent6"/>
                          </a:solidFill>
                        </a:rPr>
                        <a:t>Do we answer this question?</a:t>
                      </a:r>
                      <a:endParaRPr b="1" sz="900">
                        <a:solidFill>
                          <a:schemeClr val="accent6"/>
                        </a:solidFill>
                      </a:endParaRPr>
                    </a:p>
                  </a:txBody>
                  <a:tcPr marT="91425" marB="91425" marR="91425" marL="91425" anchor="ctr">
                    <a:solidFill>
                      <a:schemeClr val="dk2"/>
                    </a:solidFill>
                  </a:tcPr>
                </a:tc>
                <a:tc>
                  <a:txBody>
                    <a:bodyPr/>
                    <a:lstStyle/>
                    <a:p>
                      <a:pPr indent="0" lvl="0" marL="0" rtl="0" algn="ctr">
                        <a:spcBef>
                          <a:spcPts val="0"/>
                        </a:spcBef>
                        <a:spcAft>
                          <a:spcPts val="0"/>
                        </a:spcAft>
                        <a:buNone/>
                      </a:pPr>
                      <a:r>
                        <a:rPr b="1" lang="en" sz="900">
                          <a:solidFill>
                            <a:schemeClr val="accent6"/>
                          </a:solidFill>
                        </a:rPr>
                        <a:t>Justification:</a:t>
                      </a:r>
                      <a:endParaRPr b="1" sz="900">
                        <a:solidFill>
                          <a:schemeClr val="accent6"/>
                        </a:solidFill>
                      </a:endParaRPr>
                    </a:p>
                  </a:txBody>
                  <a:tcPr marT="91425" marB="91425" marR="91425" marL="91425" anchor="ctr">
                    <a:solidFill>
                      <a:schemeClr val="dk2"/>
                    </a:solidFill>
                  </a:tcPr>
                </a:tc>
              </a:tr>
              <a:tr h="381000">
                <a:tc>
                  <a:txBody>
                    <a:bodyPr/>
                    <a:lstStyle/>
                    <a:p>
                      <a:pPr indent="0" lvl="0" marL="0" rtl="0" algn="l">
                        <a:lnSpc>
                          <a:spcPct val="115000"/>
                        </a:lnSpc>
                        <a:spcBef>
                          <a:spcPts val="1200"/>
                        </a:spcBef>
                        <a:spcAft>
                          <a:spcPts val="1200"/>
                        </a:spcAft>
                        <a:buNone/>
                      </a:pPr>
                      <a:r>
                        <a:rPr lang="en" sz="900">
                          <a:solidFill>
                            <a:schemeClr val="accent6"/>
                          </a:solidFill>
                        </a:rPr>
                        <a:t>1. What is the length of a daylight period in Oakville?</a:t>
                      </a:r>
                      <a:endParaRPr sz="900">
                        <a:solidFill>
                          <a:schemeClr val="accent6"/>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 sz="900">
                          <a:solidFill>
                            <a:schemeClr val="accent6"/>
                          </a:solidFill>
                        </a:rPr>
                        <a:t>Time &amp; DC Voltage readings</a:t>
                      </a:r>
                      <a:endParaRPr sz="900">
                        <a:solidFill>
                          <a:schemeClr val="accent6"/>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 sz="900">
                          <a:solidFill>
                            <a:schemeClr val="accent6"/>
                          </a:solidFill>
                        </a:rPr>
                        <a:t>No</a:t>
                      </a:r>
                      <a:endParaRPr sz="900">
                        <a:solidFill>
                          <a:schemeClr val="accent6"/>
                        </a:solidFill>
                      </a:endParaRPr>
                    </a:p>
                  </a:txBody>
                  <a:tcPr marT="91425" marB="91425" marR="91425" marL="91425">
                    <a:solidFill>
                      <a:schemeClr val="dk2"/>
                    </a:solidFill>
                  </a:tcPr>
                </a:tc>
                <a:tc>
                  <a:txBody>
                    <a:bodyPr/>
                    <a:lstStyle/>
                    <a:p>
                      <a:pPr indent="0" lvl="0" marL="0" rtl="0" algn="ctr">
                        <a:spcBef>
                          <a:spcPts val="0"/>
                        </a:spcBef>
                        <a:spcAft>
                          <a:spcPts val="0"/>
                        </a:spcAft>
                        <a:buNone/>
                      </a:pPr>
                      <a:r>
                        <a:rPr lang="en" sz="900">
                          <a:solidFill>
                            <a:schemeClr val="accent6"/>
                          </a:solidFill>
                        </a:rPr>
                        <a:t>This is a region specific detail that is easily kept track of by other organizations.</a:t>
                      </a:r>
                      <a:endParaRPr sz="900">
                        <a:solidFill>
                          <a:schemeClr val="accent6"/>
                        </a:solidFill>
                      </a:endParaRPr>
                    </a:p>
                  </a:txBody>
                  <a:tcPr marT="91425" marB="91425" marR="91425" marL="91425">
                    <a:solidFill>
                      <a:schemeClr val="dk2"/>
                    </a:solidFill>
                  </a:tcPr>
                </a:tc>
              </a:tr>
              <a:tr h="381000">
                <a:tc>
                  <a:txBody>
                    <a:bodyPr/>
                    <a:lstStyle/>
                    <a:p>
                      <a:pPr indent="0" lvl="0" marL="0" rtl="0" algn="l">
                        <a:spcBef>
                          <a:spcPts val="0"/>
                        </a:spcBef>
                        <a:spcAft>
                          <a:spcPts val="0"/>
                        </a:spcAft>
                        <a:buNone/>
                      </a:pPr>
                      <a:r>
                        <a:rPr lang="en" sz="900">
                          <a:solidFill>
                            <a:schemeClr val="accent6"/>
                          </a:solidFill>
                        </a:rPr>
                        <a:t>2. What is the peak/average solar output of the panel (for a 24hr period)?</a:t>
                      </a:r>
                      <a:endParaRPr sz="900">
                        <a:solidFill>
                          <a:schemeClr val="accent6"/>
                        </a:solidFill>
                      </a:endParaRPr>
                    </a:p>
                  </a:txBody>
                  <a:tcPr marT="91425" marB="91425" marR="91425" marL="91425">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Time &amp; AC power output</a:t>
                      </a:r>
                      <a:endParaRPr sz="900">
                        <a:solidFill>
                          <a:schemeClr val="accent6"/>
                        </a:solidFill>
                      </a:endParaRPr>
                    </a:p>
                  </a:txBody>
                  <a:tcPr marT="91425" marB="91425" marR="91425" marL="91425">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This data could be used by solar investment organizations.</a:t>
                      </a:r>
                      <a:endParaRPr sz="900">
                        <a:solidFill>
                          <a:schemeClr val="accent6"/>
                        </a:solidFill>
                      </a:endParaRPr>
                    </a:p>
                  </a:txBody>
                  <a:tcPr marT="91425" marB="91425" marR="91425" marL="91425">
                    <a:lnB cap="flat" cmpd="sng" w="9525">
                      <a:solidFill>
                        <a:srgbClr val="9E9E9E"/>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 sz="900">
                          <a:solidFill>
                            <a:schemeClr val="accent6"/>
                          </a:solidFill>
                        </a:rPr>
                        <a:t>3. How does solar panel temperature affect power output in PV systems?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sz="900">
                          <a:solidFill>
                            <a:schemeClr val="accent6"/>
                          </a:solidFill>
                        </a:rPr>
                        <a:t>Panel temp, AC power output</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This becomes important as the global environment sees more </a:t>
                      </a:r>
                      <a:r>
                        <a:rPr lang="en" sz="900">
                          <a:solidFill>
                            <a:schemeClr val="accent6"/>
                          </a:solidFill>
                        </a:rPr>
                        <a:t>aggressive</a:t>
                      </a:r>
                      <a:r>
                        <a:rPr lang="en" sz="900">
                          <a:solidFill>
                            <a:schemeClr val="accent6"/>
                          </a:solidFill>
                        </a:rPr>
                        <a:t> temperature changes.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Clr>
                          <a:schemeClr val="dk1"/>
                        </a:buClr>
                        <a:buSzPts val="1100"/>
                        <a:buFont typeface="Arial"/>
                        <a:buNone/>
                      </a:pPr>
                      <a:r>
                        <a:rPr lang="en" sz="900">
                          <a:solidFill>
                            <a:schemeClr val="accent6"/>
                          </a:solidFill>
                        </a:rPr>
                        <a:t>4. What is the frequency of clouds?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Time &amp; AC power output</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No</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Making inferences on clouds would require more data in order to make proper extrapolations.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 sz="900">
                          <a:solidFill>
                            <a:schemeClr val="accent6"/>
                          </a:solidFill>
                        </a:rPr>
                        <a:t>5. Which environmental factors have the biggest impact on power output?</a:t>
                      </a:r>
                      <a:endParaRPr sz="900">
                        <a:solidFill>
                          <a:schemeClr val="accent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Relative humidity, irradiance, ambient temperature, water temperature, wind speed and direction, AC power output</a:t>
                      </a:r>
                      <a:endParaRPr sz="900">
                        <a:solidFill>
                          <a:schemeClr val="accent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No</a:t>
                      </a:r>
                      <a:endParaRPr sz="900">
                        <a:solidFill>
                          <a:schemeClr val="accent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900">
                          <a:solidFill>
                            <a:schemeClr val="accent6"/>
                          </a:solidFill>
                        </a:rPr>
                        <a:t>Comparing all the variables here would require extensive studying of many data combinations, and may exceed our capabilities.</a:t>
                      </a:r>
                      <a:endParaRPr sz="900">
                        <a:solidFill>
                          <a:schemeClr val="accent6"/>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 sz="900">
                          <a:solidFill>
                            <a:schemeClr val="accent6"/>
                          </a:solidFill>
                        </a:rPr>
                        <a:t>6. How does power output vary over time?</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Clr>
                          <a:schemeClr val="dk1"/>
                        </a:buClr>
                        <a:buSzPts val="1100"/>
                        <a:buFont typeface="Arial"/>
                        <a:buNone/>
                      </a:pPr>
                      <a:r>
                        <a:rPr lang="en" sz="900">
                          <a:solidFill>
                            <a:schemeClr val="accent6"/>
                          </a:solidFill>
                        </a:rPr>
                        <a:t>Time &amp; AC power output</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None/>
                      </a:pPr>
                      <a:r>
                        <a:rPr lang="en" sz="900">
                          <a:solidFill>
                            <a:schemeClr val="accent6"/>
                          </a:solidFill>
                        </a:rPr>
                        <a:t>Yes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solidFill>
                      <a:schemeClr val="dk2"/>
                    </a:solidFill>
                  </a:tcPr>
                </a:tc>
                <a:tc>
                  <a:txBody>
                    <a:bodyPr/>
                    <a:lstStyle/>
                    <a:p>
                      <a:pPr indent="0" lvl="0" marL="0" rtl="0" algn="ctr">
                        <a:spcBef>
                          <a:spcPts val="0"/>
                        </a:spcBef>
                        <a:spcAft>
                          <a:spcPts val="0"/>
                        </a:spcAft>
                        <a:buNone/>
                      </a:pPr>
                      <a:r>
                        <a:rPr lang="en" sz="900">
                          <a:solidFill>
                            <a:schemeClr val="accent6"/>
                          </a:solidFill>
                        </a:rPr>
                        <a:t>This builds on the data from option 2 and is likewise useful for long term considerations.</a:t>
                      </a:r>
                      <a:endParaRPr sz="900">
                        <a:solidFill>
                          <a:schemeClr val="accent6"/>
                        </a:solidFill>
                      </a:endParaRPr>
                    </a:p>
                  </a:txBody>
                  <a:tcPr marT="91425" marB="91425" marR="91425" marL="91425">
                    <a:lnT cap="flat" cmpd="sng" w="9525">
                      <a:solidFill>
                        <a:srgbClr val="9E9E9E"/>
                      </a:solidFill>
                      <a:prstDash val="solid"/>
                      <a:round/>
                      <a:headEnd len="sm" w="sm" type="none"/>
                      <a:tailEnd len="sm" w="sm" type="none"/>
                    </a:lnT>
                    <a:solidFill>
                      <a:schemeClr val="dk2"/>
                    </a:solidFill>
                  </a:tcPr>
                </a:tc>
              </a:tr>
            </a:tbl>
          </a:graphicData>
        </a:graphic>
      </p:graphicFrame>
      <p:sp>
        <p:nvSpPr>
          <p:cNvPr id="531" name="Google Shape;531;p68"/>
          <p:cNvSpPr txBox="1"/>
          <p:nvPr>
            <p:ph type="title"/>
          </p:nvPr>
        </p:nvSpPr>
        <p:spPr>
          <a:xfrm>
            <a:off x="564575" y="567375"/>
            <a:ext cx="85206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3: </a:t>
            </a:r>
            <a:r>
              <a:rPr lang="en"/>
              <a:t>Potential Questions</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35" name="Shape 535"/>
        <p:cNvGrpSpPr/>
        <p:nvPr/>
      </p:nvGrpSpPr>
      <p:grpSpPr>
        <a:xfrm>
          <a:off x="0" y="0"/>
          <a:ext cx="0" cy="0"/>
          <a:chOff x="0" y="0"/>
          <a:chExt cx="0" cy="0"/>
        </a:xfrm>
      </p:grpSpPr>
      <p:sp>
        <p:nvSpPr>
          <p:cNvPr id="536" name="Google Shape;536;p69"/>
          <p:cNvSpPr txBox="1"/>
          <p:nvPr>
            <p:ph type="title"/>
          </p:nvPr>
        </p:nvSpPr>
        <p:spPr>
          <a:xfrm>
            <a:off x="569800" y="542075"/>
            <a:ext cx="85206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4: Q1:</a:t>
            </a:r>
            <a:r>
              <a:rPr lang="en"/>
              <a:t> </a:t>
            </a:r>
            <a:r>
              <a:rPr lang="en"/>
              <a:t>What is the peak/average solar output of the panel (for a 24hr period)?</a:t>
            </a:r>
            <a:endParaRPr/>
          </a:p>
        </p:txBody>
      </p:sp>
      <p:graphicFrame>
        <p:nvGraphicFramePr>
          <p:cNvPr id="537" name="Google Shape;537;p69"/>
          <p:cNvGraphicFramePr/>
          <p:nvPr/>
        </p:nvGraphicFramePr>
        <p:xfrm>
          <a:off x="952500" y="1846888"/>
          <a:ext cx="3000000" cy="3000000"/>
        </p:xfrm>
        <a:graphic>
          <a:graphicData uri="http://schemas.openxmlformats.org/drawingml/2006/table">
            <a:tbl>
              <a:tblPr>
                <a:noFill/>
                <a:tableStyleId>{F0197F19-CE84-400B-AF90-2E6C48A5B591}</a:tableStyleId>
              </a:tblPr>
              <a:tblGrid>
                <a:gridCol w="2413000"/>
                <a:gridCol w="2413000"/>
                <a:gridCol w="2413000"/>
              </a:tblGrid>
              <a:tr h="714025">
                <a:tc>
                  <a:txBody>
                    <a:bodyPr/>
                    <a:lstStyle/>
                    <a:p>
                      <a:pPr indent="0" lvl="0" marL="0" rtl="0" algn="l">
                        <a:spcBef>
                          <a:spcPts val="0"/>
                        </a:spcBef>
                        <a:spcAft>
                          <a:spcPts val="0"/>
                        </a:spcAft>
                        <a:buNone/>
                      </a:pPr>
                      <a:r>
                        <a:rPr lang="en">
                          <a:solidFill>
                            <a:schemeClr val="accent6"/>
                          </a:solidFill>
                        </a:rPr>
                        <a:t>Metrics to be Calculated</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Tools &amp; Python Packages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Effective Plots &amp; Visualizations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r h="703925">
                <a:tc>
                  <a:txBody>
                    <a:bodyPr/>
                    <a:lstStyle/>
                    <a:p>
                      <a:pPr indent="-317500" lvl="0" marL="457200" rtl="0" algn="l">
                        <a:spcBef>
                          <a:spcPts val="0"/>
                        </a:spcBef>
                        <a:spcAft>
                          <a:spcPts val="0"/>
                        </a:spcAft>
                        <a:buClr>
                          <a:schemeClr val="accent6"/>
                        </a:buClr>
                        <a:buSzPts val="1400"/>
                        <a:buChar char="●"/>
                      </a:pPr>
                      <a:r>
                        <a:rPr lang="en">
                          <a:solidFill>
                            <a:schemeClr val="accent6"/>
                          </a:solidFill>
                        </a:rPr>
                        <a:t>Daily Peak Power (kW)</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Daily Average Output (kW)</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Pandas</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Numpy</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Matplotlib</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Histogram</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Box plot</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24 hour Line Plot</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41" name="Shape 541"/>
        <p:cNvGrpSpPr/>
        <p:nvPr/>
      </p:nvGrpSpPr>
      <p:grpSpPr>
        <a:xfrm>
          <a:off x="0" y="0"/>
          <a:ext cx="0" cy="0"/>
          <a:chOff x="0" y="0"/>
          <a:chExt cx="0" cy="0"/>
        </a:xfrm>
      </p:grpSpPr>
      <p:sp>
        <p:nvSpPr>
          <p:cNvPr id="542" name="Google Shape;542;p70"/>
          <p:cNvSpPr txBox="1"/>
          <p:nvPr>
            <p:ph type="title"/>
          </p:nvPr>
        </p:nvSpPr>
        <p:spPr>
          <a:xfrm>
            <a:off x="569800" y="542075"/>
            <a:ext cx="85206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4: </a:t>
            </a:r>
            <a:r>
              <a:rPr b="1" lang="en"/>
              <a:t>Q2:</a:t>
            </a:r>
            <a:r>
              <a:rPr lang="en"/>
              <a:t> How does power output vary over time?</a:t>
            </a:r>
            <a:endParaRPr/>
          </a:p>
        </p:txBody>
      </p:sp>
      <p:graphicFrame>
        <p:nvGraphicFramePr>
          <p:cNvPr id="543" name="Google Shape;543;p70"/>
          <p:cNvGraphicFramePr/>
          <p:nvPr/>
        </p:nvGraphicFramePr>
        <p:xfrm>
          <a:off x="952500" y="1846888"/>
          <a:ext cx="3000000" cy="3000000"/>
        </p:xfrm>
        <a:graphic>
          <a:graphicData uri="http://schemas.openxmlformats.org/drawingml/2006/table">
            <a:tbl>
              <a:tblPr>
                <a:noFill/>
                <a:tableStyleId>{F0197F19-CE84-400B-AF90-2E6C48A5B591}</a:tableStyleId>
              </a:tblPr>
              <a:tblGrid>
                <a:gridCol w="2413000"/>
                <a:gridCol w="2413000"/>
                <a:gridCol w="2413000"/>
              </a:tblGrid>
              <a:tr h="714025">
                <a:tc>
                  <a:txBody>
                    <a:bodyPr/>
                    <a:lstStyle/>
                    <a:p>
                      <a:pPr indent="0" lvl="0" marL="0" rtl="0" algn="l">
                        <a:spcBef>
                          <a:spcPts val="0"/>
                        </a:spcBef>
                        <a:spcAft>
                          <a:spcPts val="0"/>
                        </a:spcAft>
                        <a:buNone/>
                      </a:pPr>
                      <a:r>
                        <a:rPr lang="en">
                          <a:solidFill>
                            <a:schemeClr val="accent6"/>
                          </a:solidFill>
                        </a:rPr>
                        <a:t>Metrics to be Calculated</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Tools &amp; Python Packages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Effective Plots &amp; Visualizations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r h="703925">
                <a:tc>
                  <a:txBody>
                    <a:bodyPr/>
                    <a:lstStyle/>
                    <a:p>
                      <a:pPr indent="-317500" lvl="0" marL="457200" rtl="0" algn="l">
                        <a:spcBef>
                          <a:spcPts val="0"/>
                        </a:spcBef>
                        <a:spcAft>
                          <a:spcPts val="0"/>
                        </a:spcAft>
                        <a:buClr>
                          <a:schemeClr val="accent6"/>
                        </a:buClr>
                        <a:buSzPts val="1400"/>
                        <a:buChar char="●"/>
                      </a:pPr>
                      <a:r>
                        <a:rPr lang="en">
                          <a:solidFill>
                            <a:schemeClr val="accent6"/>
                          </a:solidFill>
                        </a:rPr>
                        <a:t>Daily total energy gathered (kJ)</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Days that actually have data (kJ)</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Numpy</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Matplotlib</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Box plot</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Scatter plot</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Bar graph</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47" name="Shape 547"/>
        <p:cNvGrpSpPr/>
        <p:nvPr/>
      </p:nvGrpSpPr>
      <p:grpSpPr>
        <a:xfrm>
          <a:off x="0" y="0"/>
          <a:ext cx="0" cy="0"/>
          <a:chOff x="0" y="0"/>
          <a:chExt cx="0" cy="0"/>
        </a:xfrm>
      </p:grpSpPr>
      <p:sp>
        <p:nvSpPr>
          <p:cNvPr id="548" name="Google Shape;548;p71"/>
          <p:cNvSpPr txBox="1"/>
          <p:nvPr>
            <p:ph type="title"/>
          </p:nvPr>
        </p:nvSpPr>
        <p:spPr>
          <a:xfrm>
            <a:off x="569800" y="542075"/>
            <a:ext cx="85206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4: </a:t>
            </a:r>
            <a:r>
              <a:rPr b="1" lang="en"/>
              <a:t>Q3:</a:t>
            </a:r>
            <a:r>
              <a:rPr lang="en"/>
              <a:t> How does solar panel temperature affect power output in PV systems?</a:t>
            </a:r>
            <a:endParaRPr/>
          </a:p>
        </p:txBody>
      </p:sp>
      <p:graphicFrame>
        <p:nvGraphicFramePr>
          <p:cNvPr id="549" name="Google Shape;549;p71"/>
          <p:cNvGraphicFramePr/>
          <p:nvPr/>
        </p:nvGraphicFramePr>
        <p:xfrm>
          <a:off x="952500" y="1846888"/>
          <a:ext cx="3000000" cy="3000000"/>
        </p:xfrm>
        <a:graphic>
          <a:graphicData uri="http://schemas.openxmlformats.org/drawingml/2006/table">
            <a:tbl>
              <a:tblPr>
                <a:noFill/>
                <a:tableStyleId>{F0197F19-CE84-400B-AF90-2E6C48A5B591}</a:tableStyleId>
              </a:tblPr>
              <a:tblGrid>
                <a:gridCol w="2413000"/>
                <a:gridCol w="2413000"/>
                <a:gridCol w="2413000"/>
              </a:tblGrid>
              <a:tr h="714025">
                <a:tc>
                  <a:txBody>
                    <a:bodyPr/>
                    <a:lstStyle/>
                    <a:p>
                      <a:pPr indent="0" lvl="0" marL="0" rtl="0" algn="l">
                        <a:spcBef>
                          <a:spcPts val="0"/>
                        </a:spcBef>
                        <a:spcAft>
                          <a:spcPts val="0"/>
                        </a:spcAft>
                        <a:buNone/>
                      </a:pPr>
                      <a:r>
                        <a:rPr lang="en">
                          <a:solidFill>
                            <a:schemeClr val="accent6"/>
                          </a:solidFill>
                        </a:rPr>
                        <a:t>Metrics to be Calculated</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Tools &amp; Python Packages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accent6"/>
                          </a:solidFill>
                        </a:rPr>
                        <a:t>Effective Plots &amp; Visualizations</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r h="703925">
                <a:tc>
                  <a:txBody>
                    <a:bodyPr/>
                    <a:lstStyle/>
                    <a:p>
                      <a:pPr indent="-317500" lvl="0" marL="457200" rtl="0" algn="l">
                        <a:spcBef>
                          <a:spcPts val="0"/>
                        </a:spcBef>
                        <a:spcAft>
                          <a:spcPts val="0"/>
                        </a:spcAft>
                        <a:buClr>
                          <a:schemeClr val="accent6"/>
                        </a:buClr>
                        <a:buSzPts val="1400"/>
                        <a:buChar char="●"/>
                      </a:pPr>
                      <a:r>
                        <a:rPr lang="en">
                          <a:solidFill>
                            <a:schemeClr val="accent6"/>
                          </a:solidFill>
                        </a:rPr>
                        <a:t>Average irradiance</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Peak panel temperature</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Peak AC power</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NumPy</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Pandas</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Matplotlib</a:t>
                      </a:r>
                      <a:endParaRPr>
                        <a:solidFill>
                          <a:schemeClr val="accent6"/>
                        </a:solidFill>
                      </a:endParaRPr>
                    </a:p>
                    <a:p>
                      <a:pPr indent="-317500" lvl="0" marL="457200" rtl="0" algn="l">
                        <a:spcBef>
                          <a:spcPts val="0"/>
                        </a:spcBef>
                        <a:spcAft>
                          <a:spcPts val="0"/>
                        </a:spcAft>
                        <a:buClr>
                          <a:schemeClr val="accent6"/>
                        </a:buClr>
                        <a:buSzPts val="1400"/>
                        <a:buChar char="●"/>
                      </a:pPr>
                      <a:r>
                        <a:rPr lang="en">
                          <a:solidFill>
                            <a:schemeClr val="accent6"/>
                          </a:solidFill>
                        </a:rPr>
                        <a:t>SciPy</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c>
                  <a:txBody>
                    <a:bodyPr/>
                    <a:lstStyle/>
                    <a:p>
                      <a:pPr indent="-317500" lvl="0" marL="457200" rtl="0" algn="l">
                        <a:spcBef>
                          <a:spcPts val="0"/>
                        </a:spcBef>
                        <a:spcAft>
                          <a:spcPts val="0"/>
                        </a:spcAft>
                        <a:buClr>
                          <a:schemeClr val="accent6"/>
                        </a:buClr>
                        <a:buSzPts val="1400"/>
                        <a:buChar char="●"/>
                      </a:pPr>
                      <a:r>
                        <a:rPr lang="en">
                          <a:solidFill>
                            <a:schemeClr val="accent6"/>
                          </a:solidFill>
                        </a:rPr>
                        <a:t>Line plot</a:t>
                      </a:r>
                      <a:endParaRPr>
                        <a:solidFill>
                          <a:schemeClr val="accent6"/>
                        </a:solidFill>
                      </a:endParaRPr>
                    </a:p>
                  </a:txBody>
                  <a:tcPr marT="91425" marB="91425" marR="91425" marL="91425">
                    <a:lnL cap="flat" cmpd="sng" w="38100">
                      <a:solidFill>
                        <a:srgbClr val="EFEFEF"/>
                      </a:solidFill>
                      <a:prstDash val="solid"/>
                      <a:round/>
                      <a:headEnd len="sm" w="sm" type="none"/>
                      <a:tailEnd len="sm" w="sm" type="none"/>
                    </a:lnL>
                    <a:lnR cap="flat" cmpd="sng" w="38100">
                      <a:solidFill>
                        <a:srgbClr val="EFEFEF"/>
                      </a:solidFill>
                      <a:prstDash val="solid"/>
                      <a:round/>
                      <a:headEnd len="sm" w="sm" type="none"/>
                      <a:tailEnd len="sm" w="sm" type="none"/>
                    </a:lnR>
                    <a:lnT cap="flat" cmpd="sng" w="38100">
                      <a:solidFill>
                        <a:srgbClr val="EFEFEF"/>
                      </a:solidFill>
                      <a:prstDash val="solid"/>
                      <a:round/>
                      <a:headEnd len="sm" w="sm" type="none"/>
                      <a:tailEnd len="sm" w="sm" type="none"/>
                    </a:lnT>
                    <a:lnB cap="flat" cmpd="sng" w="38100">
                      <a:solidFill>
                        <a:srgbClr val="EFEFEF"/>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53" name="Shape 553"/>
        <p:cNvGrpSpPr/>
        <p:nvPr/>
      </p:nvGrpSpPr>
      <p:grpSpPr>
        <a:xfrm>
          <a:off x="0" y="0"/>
          <a:ext cx="0" cy="0"/>
          <a:chOff x="0" y="0"/>
          <a:chExt cx="0" cy="0"/>
        </a:xfrm>
      </p:grpSpPr>
      <p:sp>
        <p:nvSpPr>
          <p:cNvPr id="554" name="Google Shape;554;p72"/>
          <p:cNvSpPr txBox="1"/>
          <p:nvPr>
            <p:ph type="title"/>
          </p:nvPr>
        </p:nvSpPr>
        <p:spPr>
          <a:xfrm>
            <a:off x="567800" y="570025"/>
            <a:ext cx="80163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Q1: </a:t>
            </a:r>
            <a:r>
              <a:rPr lang="en"/>
              <a:t>What is the peak/average solar output of the panel (for a 24hr period)?</a:t>
            </a:r>
            <a:endParaRPr/>
          </a:p>
        </p:txBody>
      </p:sp>
      <p:pic>
        <p:nvPicPr>
          <p:cNvPr id="555" name="Google Shape;555;p72"/>
          <p:cNvPicPr preferRelativeResize="0"/>
          <p:nvPr/>
        </p:nvPicPr>
        <p:blipFill>
          <a:blip r:embed="rId3">
            <a:alphaModFix/>
          </a:blip>
          <a:stretch>
            <a:fillRect/>
          </a:stretch>
        </p:blipFill>
        <p:spPr>
          <a:xfrm>
            <a:off x="2367769" y="1873850"/>
            <a:ext cx="4408450" cy="1607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59" name="Shape 559"/>
        <p:cNvGrpSpPr/>
        <p:nvPr/>
      </p:nvGrpSpPr>
      <p:grpSpPr>
        <a:xfrm>
          <a:off x="0" y="0"/>
          <a:ext cx="0" cy="0"/>
          <a:chOff x="0" y="0"/>
          <a:chExt cx="0" cy="0"/>
        </a:xfrm>
      </p:grpSpPr>
      <p:sp>
        <p:nvSpPr>
          <p:cNvPr id="560" name="Google Shape;560;p73"/>
          <p:cNvSpPr txBox="1"/>
          <p:nvPr>
            <p:ph type="title"/>
          </p:nvPr>
        </p:nvSpPr>
        <p:spPr>
          <a:xfrm>
            <a:off x="567800" y="570025"/>
            <a:ext cx="80163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Q1: </a:t>
            </a:r>
            <a:r>
              <a:rPr lang="en"/>
              <a:t>What is the peak/average solar output of the panel (for a 24hr period)?</a:t>
            </a:r>
            <a:endParaRPr/>
          </a:p>
        </p:txBody>
      </p:sp>
      <p:pic>
        <p:nvPicPr>
          <p:cNvPr id="561" name="Google Shape;561;p73"/>
          <p:cNvPicPr preferRelativeResize="0"/>
          <p:nvPr/>
        </p:nvPicPr>
        <p:blipFill>
          <a:blip r:embed="rId3">
            <a:alphaModFix/>
          </a:blip>
          <a:stretch>
            <a:fillRect/>
          </a:stretch>
        </p:blipFill>
        <p:spPr>
          <a:xfrm>
            <a:off x="1951100" y="1374300"/>
            <a:ext cx="5241799" cy="31315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65" name="Shape 565"/>
        <p:cNvGrpSpPr/>
        <p:nvPr/>
      </p:nvGrpSpPr>
      <p:grpSpPr>
        <a:xfrm>
          <a:off x="0" y="0"/>
          <a:ext cx="0" cy="0"/>
          <a:chOff x="0" y="0"/>
          <a:chExt cx="0" cy="0"/>
        </a:xfrm>
      </p:grpSpPr>
      <p:sp>
        <p:nvSpPr>
          <p:cNvPr id="566" name="Google Shape;566;p74"/>
          <p:cNvSpPr txBox="1"/>
          <p:nvPr>
            <p:ph type="title"/>
          </p:nvPr>
        </p:nvSpPr>
        <p:spPr>
          <a:xfrm>
            <a:off x="582750" y="577250"/>
            <a:ext cx="80022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Q2:</a:t>
            </a:r>
            <a:r>
              <a:rPr lang="en"/>
              <a:t> How does power output vary over time?</a:t>
            </a:r>
            <a:endParaRPr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pic>
        <p:nvPicPr>
          <p:cNvPr id="567" name="Google Shape;567;p74"/>
          <p:cNvPicPr preferRelativeResize="0"/>
          <p:nvPr/>
        </p:nvPicPr>
        <p:blipFill>
          <a:blip r:embed="rId3">
            <a:alphaModFix/>
          </a:blip>
          <a:stretch>
            <a:fillRect/>
          </a:stretch>
        </p:blipFill>
        <p:spPr>
          <a:xfrm>
            <a:off x="582750" y="1149950"/>
            <a:ext cx="2105025" cy="2438400"/>
          </a:xfrm>
          <a:prstGeom prst="rect">
            <a:avLst/>
          </a:prstGeom>
          <a:noFill/>
          <a:ln>
            <a:noFill/>
          </a:ln>
        </p:spPr>
      </p:pic>
      <p:pic>
        <p:nvPicPr>
          <p:cNvPr id="568" name="Google Shape;568;p74"/>
          <p:cNvPicPr preferRelativeResize="0"/>
          <p:nvPr/>
        </p:nvPicPr>
        <p:blipFill>
          <a:blip r:embed="rId4">
            <a:alphaModFix/>
          </a:blip>
          <a:stretch>
            <a:fillRect/>
          </a:stretch>
        </p:blipFill>
        <p:spPr>
          <a:xfrm>
            <a:off x="2769675" y="1149950"/>
            <a:ext cx="5689099" cy="811332"/>
          </a:xfrm>
          <a:prstGeom prst="rect">
            <a:avLst/>
          </a:prstGeom>
          <a:noFill/>
          <a:ln>
            <a:noFill/>
          </a:ln>
        </p:spPr>
      </p:pic>
      <p:pic>
        <p:nvPicPr>
          <p:cNvPr id="569" name="Google Shape;569;p74"/>
          <p:cNvPicPr preferRelativeResize="0"/>
          <p:nvPr/>
        </p:nvPicPr>
        <p:blipFill>
          <a:blip r:embed="rId5">
            <a:alphaModFix/>
          </a:blip>
          <a:stretch>
            <a:fillRect/>
          </a:stretch>
        </p:blipFill>
        <p:spPr>
          <a:xfrm>
            <a:off x="3236925" y="2035100"/>
            <a:ext cx="5348026" cy="2551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73" name="Shape 573"/>
        <p:cNvGrpSpPr/>
        <p:nvPr/>
      </p:nvGrpSpPr>
      <p:grpSpPr>
        <a:xfrm>
          <a:off x="0" y="0"/>
          <a:ext cx="0" cy="0"/>
          <a:chOff x="0" y="0"/>
          <a:chExt cx="0" cy="0"/>
        </a:xfrm>
      </p:grpSpPr>
      <p:sp>
        <p:nvSpPr>
          <p:cNvPr id="574" name="Google Shape;574;p75"/>
          <p:cNvSpPr txBox="1"/>
          <p:nvPr>
            <p:ph type="title"/>
          </p:nvPr>
        </p:nvSpPr>
        <p:spPr>
          <a:xfrm>
            <a:off x="582750" y="577250"/>
            <a:ext cx="80022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Q2:</a:t>
            </a:r>
            <a:r>
              <a:rPr lang="en"/>
              <a:t> </a:t>
            </a:r>
            <a:r>
              <a:rPr lang="en"/>
              <a:t>How does power output vary over time?</a:t>
            </a:r>
            <a:endParaRPr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pic>
        <p:nvPicPr>
          <p:cNvPr id="575" name="Google Shape;575;p75"/>
          <p:cNvPicPr preferRelativeResize="0"/>
          <p:nvPr/>
        </p:nvPicPr>
        <p:blipFill>
          <a:blip r:embed="rId3">
            <a:alphaModFix/>
          </a:blip>
          <a:stretch>
            <a:fillRect/>
          </a:stretch>
        </p:blipFill>
        <p:spPr>
          <a:xfrm>
            <a:off x="873875" y="982275"/>
            <a:ext cx="4726086" cy="3593600"/>
          </a:xfrm>
          <a:prstGeom prst="rect">
            <a:avLst/>
          </a:prstGeom>
          <a:noFill/>
          <a:ln>
            <a:noFill/>
          </a:ln>
        </p:spPr>
      </p:pic>
      <p:pic>
        <p:nvPicPr>
          <p:cNvPr id="576" name="Google Shape;576;p75"/>
          <p:cNvPicPr preferRelativeResize="0"/>
          <p:nvPr/>
        </p:nvPicPr>
        <p:blipFill>
          <a:blip r:embed="rId4">
            <a:alphaModFix/>
          </a:blip>
          <a:stretch>
            <a:fillRect/>
          </a:stretch>
        </p:blipFill>
        <p:spPr>
          <a:xfrm>
            <a:off x="5698836" y="982275"/>
            <a:ext cx="2424163" cy="3593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80" name="Shape 580"/>
        <p:cNvGrpSpPr/>
        <p:nvPr/>
      </p:nvGrpSpPr>
      <p:grpSpPr>
        <a:xfrm>
          <a:off x="0" y="0"/>
          <a:ext cx="0" cy="0"/>
          <a:chOff x="0" y="0"/>
          <a:chExt cx="0" cy="0"/>
        </a:xfrm>
      </p:grpSpPr>
      <p:pic>
        <p:nvPicPr>
          <p:cNvPr id="581" name="Google Shape;581;p76"/>
          <p:cNvPicPr preferRelativeResize="0"/>
          <p:nvPr/>
        </p:nvPicPr>
        <p:blipFill>
          <a:blip r:embed="rId3">
            <a:alphaModFix/>
          </a:blip>
          <a:stretch>
            <a:fillRect/>
          </a:stretch>
        </p:blipFill>
        <p:spPr>
          <a:xfrm>
            <a:off x="2527823" y="1814513"/>
            <a:ext cx="4114800" cy="1323975"/>
          </a:xfrm>
          <a:prstGeom prst="rect">
            <a:avLst/>
          </a:prstGeom>
          <a:noFill/>
          <a:ln>
            <a:noFill/>
          </a:ln>
        </p:spPr>
      </p:pic>
      <p:sp>
        <p:nvSpPr>
          <p:cNvPr id="582" name="Google Shape;582;p76"/>
          <p:cNvSpPr txBox="1"/>
          <p:nvPr>
            <p:ph type="title"/>
          </p:nvPr>
        </p:nvSpPr>
        <p:spPr>
          <a:xfrm>
            <a:off x="582750" y="577250"/>
            <a:ext cx="80022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Q3:</a:t>
            </a:r>
            <a:r>
              <a:rPr lang="en"/>
              <a:t> How does solar panel temperature affect power output in PV systems?</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86" name="Shape 586"/>
        <p:cNvGrpSpPr/>
        <p:nvPr/>
      </p:nvGrpSpPr>
      <p:grpSpPr>
        <a:xfrm>
          <a:off x="0" y="0"/>
          <a:ext cx="0" cy="0"/>
          <a:chOff x="0" y="0"/>
          <a:chExt cx="0" cy="0"/>
        </a:xfrm>
      </p:grpSpPr>
      <p:pic>
        <p:nvPicPr>
          <p:cNvPr id="587" name="Google Shape;587;p77"/>
          <p:cNvPicPr preferRelativeResize="0"/>
          <p:nvPr/>
        </p:nvPicPr>
        <p:blipFill rotWithShape="1">
          <a:blip r:embed="rId3">
            <a:alphaModFix/>
          </a:blip>
          <a:srcRect b="2432" l="0" r="0" t="1829"/>
          <a:stretch/>
        </p:blipFill>
        <p:spPr>
          <a:xfrm>
            <a:off x="667456" y="1524000"/>
            <a:ext cx="7809101" cy="1785225"/>
          </a:xfrm>
          <a:prstGeom prst="rect">
            <a:avLst/>
          </a:prstGeom>
          <a:noFill/>
          <a:ln>
            <a:noFill/>
          </a:ln>
        </p:spPr>
      </p:pic>
      <p:sp>
        <p:nvSpPr>
          <p:cNvPr id="588" name="Google Shape;588;p77"/>
          <p:cNvSpPr txBox="1"/>
          <p:nvPr>
            <p:ph type="title"/>
          </p:nvPr>
        </p:nvSpPr>
        <p:spPr>
          <a:xfrm>
            <a:off x="582750" y="577250"/>
            <a:ext cx="80022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5: Q3:</a:t>
            </a:r>
            <a:r>
              <a:rPr lang="en"/>
              <a:t> How does solar panel temperature affect power output in PV systems?</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92" name="Shape 592"/>
        <p:cNvGrpSpPr/>
        <p:nvPr/>
      </p:nvGrpSpPr>
      <p:grpSpPr>
        <a:xfrm>
          <a:off x="0" y="0"/>
          <a:ext cx="0" cy="0"/>
          <a:chOff x="0" y="0"/>
          <a:chExt cx="0" cy="0"/>
        </a:xfrm>
      </p:grpSpPr>
      <p:sp>
        <p:nvSpPr>
          <p:cNvPr id="593" name="Google Shape;593;p78"/>
          <p:cNvSpPr txBox="1"/>
          <p:nvPr>
            <p:ph type="title"/>
          </p:nvPr>
        </p:nvSpPr>
        <p:spPr>
          <a:xfrm>
            <a:off x="547075" y="560650"/>
            <a:ext cx="8032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6: Q1:</a:t>
            </a:r>
            <a:r>
              <a:rPr lang="en"/>
              <a:t> What is the peak/average solar output of the panel (for a 24hr period)?</a:t>
            </a:r>
            <a:endParaRPr/>
          </a:p>
        </p:txBody>
      </p:sp>
      <p:sp>
        <p:nvSpPr>
          <p:cNvPr id="594" name="Google Shape;594;p78"/>
          <p:cNvSpPr txBox="1"/>
          <p:nvPr/>
        </p:nvSpPr>
        <p:spPr>
          <a:xfrm>
            <a:off x="547075" y="1464500"/>
            <a:ext cx="8032800" cy="2769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accent6"/>
              </a:buClr>
              <a:buSzPts val="1500"/>
              <a:buFont typeface="Lato"/>
              <a:buChar char="●"/>
            </a:pPr>
            <a:r>
              <a:rPr lang="en" sz="1500">
                <a:solidFill>
                  <a:schemeClr val="accent6"/>
                </a:solidFill>
                <a:latin typeface="Lato"/>
                <a:ea typeface="Lato"/>
                <a:cs typeface="Lato"/>
                <a:sym typeface="Lato"/>
              </a:rPr>
              <a:t>The absolute peak solar output of the panel over a 24 hr period was 33.68 kW</a:t>
            </a:r>
            <a:endParaRPr sz="1500">
              <a:solidFill>
                <a:schemeClr val="accent6"/>
              </a:solidFill>
              <a:latin typeface="Lato"/>
              <a:ea typeface="Lato"/>
              <a:cs typeface="Lato"/>
              <a:sym typeface="Lato"/>
            </a:endParaRPr>
          </a:p>
          <a:p>
            <a:pPr indent="-323850" lvl="0" marL="457200" rtl="0" algn="l">
              <a:spcBef>
                <a:spcPts val="0"/>
              </a:spcBef>
              <a:spcAft>
                <a:spcPts val="0"/>
              </a:spcAft>
              <a:buClr>
                <a:schemeClr val="accent6"/>
              </a:buClr>
              <a:buSzPts val="1500"/>
              <a:buFont typeface="Lato"/>
              <a:buChar char="●"/>
            </a:pPr>
            <a:r>
              <a:rPr lang="en" sz="1500">
                <a:solidFill>
                  <a:schemeClr val="accent6"/>
                </a:solidFill>
                <a:latin typeface="Lato"/>
                <a:ea typeface="Lato"/>
                <a:cs typeface="Lato"/>
                <a:sym typeface="Lato"/>
              </a:rPr>
              <a:t>The average 24-hour power output measured was 6.32 kW </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Expected Relationship:</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It was expected that higher daily peaks would correspond to higher daily averages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Observed Relationships</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The data shows a positive relationship</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The days with higher peak output generally had a higher average output</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There is a clear trend.  Solar output follows expected patterns where peak production aligns with overall daily performance.</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This could influence solar panel installation choices.</a:t>
            </a:r>
            <a:endParaRPr sz="1500">
              <a:solidFill>
                <a:schemeClr val="accent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98" name="Shape 598"/>
        <p:cNvGrpSpPr/>
        <p:nvPr/>
      </p:nvGrpSpPr>
      <p:grpSpPr>
        <a:xfrm>
          <a:off x="0" y="0"/>
          <a:ext cx="0" cy="0"/>
          <a:chOff x="0" y="0"/>
          <a:chExt cx="0" cy="0"/>
        </a:xfrm>
      </p:grpSpPr>
      <p:sp>
        <p:nvSpPr>
          <p:cNvPr id="599" name="Google Shape;599;p79"/>
          <p:cNvSpPr txBox="1"/>
          <p:nvPr>
            <p:ph type="title"/>
          </p:nvPr>
        </p:nvSpPr>
        <p:spPr>
          <a:xfrm>
            <a:off x="547075" y="581425"/>
            <a:ext cx="8596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6: Q2:</a:t>
            </a:r>
            <a:r>
              <a:rPr lang="en"/>
              <a:t> </a:t>
            </a:r>
            <a:r>
              <a:rPr lang="en"/>
              <a:t>How does power output vary over time?</a:t>
            </a:r>
            <a:endParaRPr/>
          </a:p>
        </p:txBody>
      </p:sp>
      <p:sp>
        <p:nvSpPr>
          <p:cNvPr id="600" name="Google Shape;600;p79"/>
          <p:cNvSpPr txBox="1"/>
          <p:nvPr/>
        </p:nvSpPr>
        <p:spPr>
          <a:xfrm>
            <a:off x="547075" y="1464500"/>
            <a:ext cx="8032800" cy="2421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accent6"/>
              </a:buClr>
              <a:buSzPts val="1500"/>
              <a:buFont typeface="Lato"/>
              <a:buChar char="●"/>
            </a:pPr>
            <a:r>
              <a:rPr lang="en" sz="1500">
                <a:solidFill>
                  <a:schemeClr val="accent6"/>
                </a:solidFill>
              </a:rPr>
              <a:t>Solar energy gathered during summer months seems to be greater than winter months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Limited data makes it difficult to </a:t>
            </a:r>
            <a:r>
              <a:rPr lang="en" sz="1500">
                <a:solidFill>
                  <a:schemeClr val="accent6"/>
                </a:solidFill>
              </a:rPr>
              <a:t>properly map out full range of season to energy generation</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Energy generation stays within certain bounds (see middle 50% boxchart) some days experience very high or low energy generation.</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Even worst case scenario typically generates about ~10% generation potential</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Electricity grid operators would need to factor in the risk and implement reserve power sources, especially during the colder months.</a:t>
            </a:r>
            <a:endParaRPr sz="1500">
              <a:solidFill>
                <a:schemeClr val="accent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04" name="Shape 604"/>
        <p:cNvGrpSpPr/>
        <p:nvPr/>
      </p:nvGrpSpPr>
      <p:grpSpPr>
        <a:xfrm>
          <a:off x="0" y="0"/>
          <a:ext cx="0" cy="0"/>
          <a:chOff x="0" y="0"/>
          <a:chExt cx="0" cy="0"/>
        </a:xfrm>
      </p:grpSpPr>
      <p:sp>
        <p:nvSpPr>
          <p:cNvPr id="605" name="Google Shape;605;p80"/>
          <p:cNvSpPr txBox="1"/>
          <p:nvPr/>
        </p:nvSpPr>
        <p:spPr>
          <a:xfrm>
            <a:off x="547075" y="1464500"/>
            <a:ext cx="8032800" cy="2421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accent6"/>
              </a:buClr>
              <a:buSzPts val="1500"/>
              <a:buChar char="●"/>
            </a:pPr>
            <a:r>
              <a:rPr lang="en" sz="1500">
                <a:solidFill>
                  <a:schemeClr val="accent6"/>
                </a:solidFill>
              </a:rPr>
              <a:t>Expected average power to be lower at higher temperatures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Results were inconclusive:</a:t>
            </a:r>
            <a:endParaRPr sz="1500">
              <a:solidFill>
                <a:schemeClr val="accent6"/>
              </a:solidFill>
            </a:endParaRPr>
          </a:p>
          <a:p>
            <a:pPr indent="-323850" lvl="1" marL="1371600" rtl="0" algn="l">
              <a:spcBef>
                <a:spcPts val="0"/>
              </a:spcBef>
              <a:spcAft>
                <a:spcPts val="0"/>
              </a:spcAft>
              <a:buClr>
                <a:schemeClr val="accent6"/>
              </a:buClr>
              <a:buSzPts val="1500"/>
              <a:buChar char="○"/>
            </a:pPr>
            <a:r>
              <a:rPr lang="en" sz="1500">
                <a:solidFill>
                  <a:schemeClr val="accent6"/>
                </a:solidFill>
              </a:rPr>
              <a:t>In some cases, average power output decreased with higher temperature</a:t>
            </a:r>
            <a:endParaRPr sz="1500">
              <a:solidFill>
                <a:schemeClr val="accent6"/>
              </a:solidFill>
            </a:endParaRPr>
          </a:p>
          <a:p>
            <a:pPr indent="-323850" lvl="1" marL="1371600" rtl="0" algn="l">
              <a:spcBef>
                <a:spcPts val="0"/>
              </a:spcBef>
              <a:spcAft>
                <a:spcPts val="0"/>
              </a:spcAft>
              <a:buClr>
                <a:schemeClr val="accent6"/>
              </a:buClr>
              <a:buSzPts val="1500"/>
              <a:buChar char="○"/>
            </a:pPr>
            <a:r>
              <a:rPr lang="en" sz="1500">
                <a:solidFill>
                  <a:schemeClr val="accent6"/>
                </a:solidFill>
              </a:rPr>
              <a:t>In others, it was the opposite or there was no trend</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Limiting factors:</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Quality of data (missing values)</a:t>
            </a:r>
            <a:endParaRPr sz="1500">
              <a:solidFill>
                <a:schemeClr val="accent6"/>
              </a:solidFill>
            </a:endParaRPr>
          </a:p>
          <a:p>
            <a:pPr indent="-323850" lvl="1" marL="914400" rtl="0" algn="l">
              <a:spcBef>
                <a:spcPts val="0"/>
              </a:spcBef>
              <a:spcAft>
                <a:spcPts val="0"/>
              </a:spcAft>
              <a:buClr>
                <a:schemeClr val="accent6"/>
              </a:buClr>
              <a:buSzPts val="1500"/>
              <a:buChar char="○"/>
            </a:pPr>
            <a:r>
              <a:rPr lang="en" sz="1500">
                <a:solidFill>
                  <a:schemeClr val="accent6"/>
                </a:solidFill>
              </a:rPr>
              <a:t>Number of factors affecting power output</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Further analysis could be done to find days with multiple similar conditions (irradiance, wind speed, humidity, etc.)</a:t>
            </a:r>
            <a:endParaRPr sz="1500">
              <a:solidFill>
                <a:schemeClr val="accent6"/>
              </a:solidFill>
            </a:endParaRPr>
          </a:p>
          <a:p>
            <a:pPr indent="0" lvl="0" marL="0" rtl="0" algn="l">
              <a:spcBef>
                <a:spcPts val="0"/>
              </a:spcBef>
              <a:spcAft>
                <a:spcPts val="0"/>
              </a:spcAft>
              <a:buNone/>
            </a:pPr>
            <a:r>
              <a:rPr lang="en" sz="1500">
                <a:solidFill>
                  <a:schemeClr val="accent6"/>
                </a:solidFill>
              </a:rPr>
              <a:t> </a:t>
            </a:r>
            <a:endParaRPr sz="1500">
              <a:solidFill>
                <a:schemeClr val="accent6"/>
              </a:solidFill>
            </a:endParaRPr>
          </a:p>
        </p:txBody>
      </p:sp>
      <p:sp>
        <p:nvSpPr>
          <p:cNvPr id="606" name="Google Shape;606;p80"/>
          <p:cNvSpPr txBox="1"/>
          <p:nvPr>
            <p:ph type="title"/>
          </p:nvPr>
        </p:nvSpPr>
        <p:spPr>
          <a:xfrm>
            <a:off x="547075" y="581425"/>
            <a:ext cx="8596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6: </a:t>
            </a:r>
            <a:r>
              <a:rPr b="1" lang="en"/>
              <a:t>Q3:</a:t>
            </a:r>
            <a:r>
              <a:rPr lang="en"/>
              <a:t> How does solar panel temperature affect power output in PV systems?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10" name="Shape 610"/>
        <p:cNvGrpSpPr/>
        <p:nvPr/>
      </p:nvGrpSpPr>
      <p:grpSpPr>
        <a:xfrm>
          <a:off x="0" y="0"/>
          <a:ext cx="0" cy="0"/>
          <a:chOff x="0" y="0"/>
          <a:chExt cx="0" cy="0"/>
        </a:xfrm>
      </p:grpSpPr>
      <p:sp>
        <p:nvSpPr>
          <p:cNvPr id="611" name="Google Shape;611;p81"/>
          <p:cNvSpPr txBox="1"/>
          <p:nvPr>
            <p:ph type="title"/>
          </p:nvPr>
        </p:nvSpPr>
        <p:spPr>
          <a:xfrm>
            <a:off x="547075" y="581425"/>
            <a:ext cx="8032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7: </a:t>
            </a:r>
            <a:r>
              <a:rPr b="1" lang="en"/>
              <a:t>Q1:</a:t>
            </a:r>
            <a:r>
              <a:rPr lang="en"/>
              <a:t> What is the peak/average solar output of the panel (for a 24hr period)?</a:t>
            </a:r>
            <a:endParaRPr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612" name="Google Shape;612;p81"/>
          <p:cNvSpPr txBox="1"/>
          <p:nvPr/>
        </p:nvSpPr>
        <p:spPr>
          <a:xfrm>
            <a:off x="555600" y="1471100"/>
            <a:ext cx="8032800" cy="29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6"/>
                </a:solidFill>
                <a:latin typeface="Lato"/>
                <a:ea typeface="Lato"/>
                <a:cs typeface="Lato"/>
                <a:sym typeface="Lato"/>
              </a:rPr>
              <a:t>Reflection</a:t>
            </a:r>
            <a:r>
              <a:rPr lang="en" sz="1500">
                <a:solidFill>
                  <a:schemeClr val="accent6"/>
                </a:solidFill>
                <a:latin typeface="Lato"/>
                <a:ea typeface="Lato"/>
                <a:cs typeface="Lato"/>
                <a:sym typeface="Lato"/>
              </a:rPr>
              <a:t>:</a:t>
            </a:r>
            <a:endParaRPr sz="1500">
              <a:solidFill>
                <a:schemeClr val="accent6"/>
              </a:solidFill>
              <a:latin typeface="Lato"/>
              <a:ea typeface="Lato"/>
              <a:cs typeface="Lato"/>
              <a:sym typeface="Lato"/>
            </a:endParaRPr>
          </a:p>
          <a:p>
            <a:pPr indent="-323850" lvl="0" marL="457200" rtl="0" algn="l">
              <a:spcBef>
                <a:spcPts val="0"/>
              </a:spcBef>
              <a:spcAft>
                <a:spcPts val="0"/>
              </a:spcAft>
              <a:buClr>
                <a:schemeClr val="accent6"/>
              </a:buClr>
              <a:buSzPts val="1500"/>
              <a:buFont typeface="Lato"/>
              <a:buChar char="●"/>
            </a:pPr>
            <a:r>
              <a:rPr lang="en" sz="1500">
                <a:solidFill>
                  <a:schemeClr val="accent6"/>
                </a:solidFill>
              </a:rPr>
              <a:t>This project showed me that working with real data is a lot messier than expected.  Cleaning the data set took more effort than the actual calculations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One thing that </a:t>
            </a:r>
            <a:r>
              <a:rPr lang="en" sz="1500">
                <a:solidFill>
                  <a:schemeClr val="accent6"/>
                </a:solidFill>
              </a:rPr>
              <a:t>surprised</a:t>
            </a:r>
            <a:r>
              <a:rPr lang="en" sz="1500">
                <a:solidFill>
                  <a:schemeClr val="accent6"/>
                </a:solidFill>
              </a:rPr>
              <a:t> me was how small issues in the data could completely change the results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If I did this again, I would spend more time exploring and validating the dataset before starting analysis.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I feel more confident working with Python, especially using libraries like pandas and matplotlib to analyze real datasets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My problem-solving skills have improved, especially when debugging errors</a:t>
            </a:r>
            <a:endParaRPr sz="1500">
              <a:solidFill>
                <a:schemeClr val="accent6"/>
              </a:solidFill>
            </a:endParaRPr>
          </a:p>
          <a:p>
            <a:pPr indent="0" lvl="0" marL="0" rtl="0" algn="l">
              <a:spcBef>
                <a:spcPts val="0"/>
              </a:spcBef>
              <a:spcAft>
                <a:spcPts val="0"/>
              </a:spcAft>
              <a:buNone/>
            </a:pPr>
            <a:r>
              <a:t/>
            </a:r>
            <a:endParaRPr sz="1500">
              <a:solidFill>
                <a:schemeClr val="accent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16" name="Shape 616"/>
        <p:cNvGrpSpPr/>
        <p:nvPr/>
      </p:nvGrpSpPr>
      <p:grpSpPr>
        <a:xfrm>
          <a:off x="0" y="0"/>
          <a:ext cx="0" cy="0"/>
          <a:chOff x="0" y="0"/>
          <a:chExt cx="0" cy="0"/>
        </a:xfrm>
      </p:grpSpPr>
      <p:sp>
        <p:nvSpPr>
          <p:cNvPr id="617" name="Google Shape;617;p82"/>
          <p:cNvSpPr txBox="1"/>
          <p:nvPr>
            <p:ph type="title"/>
          </p:nvPr>
        </p:nvSpPr>
        <p:spPr>
          <a:xfrm>
            <a:off x="547075" y="581425"/>
            <a:ext cx="8596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7: Q2:</a:t>
            </a:r>
            <a:r>
              <a:rPr lang="en"/>
              <a:t> How does power output vary over time?</a:t>
            </a:r>
            <a:endParaRPr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618" name="Google Shape;618;p82"/>
          <p:cNvSpPr txBox="1"/>
          <p:nvPr/>
        </p:nvSpPr>
        <p:spPr>
          <a:xfrm>
            <a:off x="547075" y="1464500"/>
            <a:ext cx="8032800" cy="24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6"/>
                </a:solidFill>
                <a:latin typeface="Lato"/>
                <a:ea typeface="Lato"/>
                <a:cs typeface="Lato"/>
                <a:sym typeface="Lato"/>
              </a:rPr>
              <a:t>Reflection:</a:t>
            </a:r>
            <a:endParaRPr sz="1500">
              <a:solidFill>
                <a:schemeClr val="accent6"/>
              </a:solidFill>
              <a:latin typeface="Lato"/>
              <a:ea typeface="Lato"/>
              <a:cs typeface="Lato"/>
              <a:sym typeface="Lato"/>
            </a:endParaRPr>
          </a:p>
          <a:p>
            <a:pPr indent="-323850" lvl="0" marL="457200" rtl="0" algn="l">
              <a:spcBef>
                <a:spcPts val="0"/>
              </a:spcBef>
              <a:spcAft>
                <a:spcPts val="0"/>
              </a:spcAft>
              <a:buClr>
                <a:schemeClr val="accent6"/>
              </a:buClr>
              <a:buSzPts val="1500"/>
              <a:buFont typeface="Lato"/>
              <a:buChar char="●"/>
            </a:pPr>
            <a:r>
              <a:rPr lang="en" sz="1500">
                <a:solidFill>
                  <a:schemeClr val="accent6"/>
                </a:solidFill>
              </a:rPr>
              <a:t>Our original question wasn’t </a:t>
            </a:r>
            <a:r>
              <a:rPr lang="en" sz="1500">
                <a:solidFill>
                  <a:schemeClr val="accent6"/>
                </a:solidFill>
              </a:rPr>
              <a:t>particularly</a:t>
            </a:r>
            <a:r>
              <a:rPr lang="en" sz="1500">
                <a:solidFill>
                  <a:schemeClr val="accent6"/>
                </a:solidFill>
              </a:rPr>
              <a:t> specific, so we had to establish what we meant by “over time” to mean in relation to seasons.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There are many ways to </a:t>
            </a:r>
            <a:r>
              <a:rPr lang="en" sz="1500">
                <a:solidFill>
                  <a:schemeClr val="accent6"/>
                </a:solidFill>
              </a:rPr>
              <a:t>process</a:t>
            </a:r>
            <a:r>
              <a:rPr lang="en" sz="1500">
                <a:solidFill>
                  <a:schemeClr val="accent6"/>
                </a:solidFill>
              </a:rPr>
              <a:t> the data (e.g. aggregate based on approximate month basis)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Since our dataset is missing a full collection of data, figuring </a:t>
            </a:r>
            <a:r>
              <a:rPr lang="en" sz="1500">
                <a:solidFill>
                  <a:schemeClr val="accent6"/>
                </a:solidFill>
              </a:rPr>
              <a:t>out</a:t>
            </a:r>
            <a:r>
              <a:rPr lang="en" sz="1500">
                <a:solidFill>
                  <a:schemeClr val="accent6"/>
                </a:solidFill>
              </a:rPr>
              <a:t> how to extrapolate what would be the expected variance and </a:t>
            </a:r>
            <a:r>
              <a:rPr lang="en" sz="1500">
                <a:solidFill>
                  <a:schemeClr val="accent6"/>
                </a:solidFill>
              </a:rPr>
              <a:t>sinusoidal</a:t>
            </a:r>
            <a:r>
              <a:rPr lang="en" sz="1500">
                <a:solidFill>
                  <a:schemeClr val="accent6"/>
                </a:solidFill>
              </a:rPr>
              <a:t> relation between the peak and low periods of a year could be able to make up for this limitation.</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Ensuring data variety compatibility is difficult when the data style changes from dataset to dataset (some datasets contain more variables, don’t fill some variables as much, ect).</a:t>
            </a:r>
            <a:endParaRPr sz="1500">
              <a:solidFill>
                <a:schemeClr val="accent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22" name="Shape 622"/>
        <p:cNvGrpSpPr/>
        <p:nvPr/>
      </p:nvGrpSpPr>
      <p:grpSpPr>
        <a:xfrm>
          <a:off x="0" y="0"/>
          <a:ext cx="0" cy="0"/>
          <a:chOff x="0" y="0"/>
          <a:chExt cx="0" cy="0"/>
        </a:xfrm>
      </p:grpSpPr>
      <p:sp>
        <p:nvSpPr>
          <p:cNvPr id="623" name="Google Shape;623;p83"/>
          <p:cNvSpPr txBox="1"/>
          <p:nvPr/>
        </p:nvSpPr>
        <p:spPr>
          <a:xfrm>
            <a:off x="547075" y="1464500"/>
            <a:ext cx="8032800" cy="24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6"/>
                </a:solidFill>
                <a:latin typeface="Lato"/>
                <a:ea typeface="Lato"/>
                <a:cs typeface="Lato"/>
                <a:sym typeface="Lato"/>
              </a:rPr>
              <a:t>Reflection:</a:t>
            </a:r>
            <a:endParaRPr sz="1500">
              <a:solidFill>
                <a:schemeClr val="accent6"/>
              </a:solidFill>
              <a:latin typeface="Lato"/>
              <a:ea typeface="Lato"/>
              <a:cs typeface="Lato"/>
              <a:sym typeface="Lato"/>
            </a:endParaRPr>
          </a:p>
          <a:p>
            <a:pPr indent="-323850" lvl="0" marL="457200" rtl="0" algn="l">
              <a:spcBef>
                <a:spcPts val="0"/>
              </a:spcBef>
              <a:spcAft>
                <a:spcPts val="0"/>
              </a:spcAft>
              <a:buClr>
                <a:schemeClr val="accent6"/>
              </a:buClr>
              <a:buSzPts val="1500"/>
              <a:buFont typeface="Lato"/>
              <a:buChar char="●"/>
            </a:pPr>
            <a:r>
              <a:rPr lang="en" sz="1500">
                <a:solidFill>
                  <a:schemeClr val="accent6"/>
                </a:solidFill>
              </a:rPr>
              <a:t>The q</a:t>
            </a:r>
            <a:r>
              <a:rPr lang="en" sz="1500">
                <a:solidFill>
                  <a:schemeClr val="accent6"/>
                </a:solidFill>
              </a:rPr>
              <a:t>uality of the data matters</a:t>
            </a:r>
            <a:r>
              <a:rPr lang="en" sz="1500">
                <a:solidFill>
                  <a:schemeClr val="accent6"/>
                </a:solidFill>
              </a:rPr>
              <a:t>. Our dataset was huge, but had many invalid or missing data points.</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Experimental conditions can greatly impact data. The data had many factors that could cause a change in power output.</a:t>
            </a:r>
            <a:endParaRPr sz="1500">
              <a:solidFill>
                <a:schemeClr val="accent6"/>
              </a:solidFill>
            </a:endParaRPr>
          </a:p>
          <a:p>
            <a:pPr indent="-323850" lvl="0" marL="457200" rtl="0" algn="l">
              <a:spcBef>
                <a:spcPts val="0"/>
              </a:spcBef>
              <a:spcAft>
                <a:spcPts val="0"/>
              </a:spcAft>
              <a:buClr>
                <a:schemeClr val="accent6"/>
              </a:buClr>
              <a:buSzPts val="1500"/>
              <a:buChar char="●"/>
            </a:pPr>
            <a:r>
              <a:rPr lang="en" sz="1500">
                <a:solidFill>
                  <a:schemeClr val="accent6"/>
                </a:solidFill>
              </a:rPr>
              <a:t>These factors </a:t>
            </a:r>
            <a:r>
              <a:rPr lang="en" sz="1500">
                <a:solidFill>
                  <a:schemeClr val="accent6"/>
                </a:solidFill>
              </a:rPr>
              <a:t>make</a:t>
            </a:r>
            <a:r>
              <a:rPr lang="en" sz="1500">
                <a:solidFill>
                  <a:schemeClr val="accent6"/>
                </a:solidFill>
              </a:rPr>
              <a:t> this question extremely difficult to explore further. The number of days with similar conditions is already limited (&lt;50 days out of 2+ years) when only comparing irradiance</a:t>
            </a:r>
            <a:endParaRPr sz="1500">
              <a:solidFill>
                <a:schemeClr val="accent6"/>
              </a:solidFill>
            </a:endParaRPr>
          </a:p>
          <a:p>
            <a:pPr indent="0" lvl="0" marL="0" rtl="0" algn="l">
              <a:spcBef>
                <a:spcPts val="0"/>
              </a:spcBef>
              <a:spcAft>
                <a:spcPts val="0"/>
              </a:spcAft>
              <a:buNone/>
            </a:pPr>
            <a:r>
              <a:t/>
            </a:r>
            <a:endParaRPr sz="1500">
              <a:solidFill>
                <a:schemeClr val="accent6"/>
              </a:solidFill>
            </a:endParaRPr>
          </a:p>
        </p:txBody>
      </p:sp>
      <p:sp>
        <p:nvSpPr>
          <p:cNvPr id="624" name="Google Shape;624;p83"/>
          <p:cNvSpPr txBox="1"/>
          <p:nvPr>
            <p:ph type="title"/>
          </p:nvPr>
        </p:nvSpPr>
        <p:spPr>
          <a:xfrm>
            <a:off x="547075" y="581425"/>
            <a:ext cx="8596800" cy="572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Task 7: </a:t>
            </a:r>
            <a:r>
              <a:rPr b="1" lang="en"/>
              <a:t>Q3:</a:t>
            </a:r>
            <a:r>
              <a:rPr lang="en"/>
              <a:t> How does solar panel temperature affect power output in PV systems?</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